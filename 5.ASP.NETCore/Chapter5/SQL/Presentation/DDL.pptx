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embeddedFontLst>
    <p:embeddedFont>
      <p:font typeface="Calibri" panose="020F0502020204030204"/>
      <p:regular r:id="rId25"/>
    </p:embeddedFont>
    <p:embeddedFont>
      <p:font typeface="Bell MT" panose="02020503060305020303"/>
      <p:regular r:id="rId26"/>
    </p:embeddedFont>
    <p:embeddedFont>
      <p:font typeface="Roboto" panose="02000000000000000000"/>
      <p:regular r:id="rId27"/>
      <p:bold r:id="rId28"/>
      <p:italic r:id="rId29"/>
      <p:boldItalic r:id="rId30"/>
    </p:embeddedFont>
    <p:embeddedFont>
      <p:font typeface="Comic Sans MS" panose="030F0702030302020204"/>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500"/>
              <a:t>Hello..welcome to aitrich academy.Today we are discussing about the topic DDL that is data </a:t>
            </a:r>
            <a:r>
              <a:rPr lang="en-US" sz="1500"/>
              <a:t>definition</a:t>
            </a:r>
            <a:r>
              <a:rPr lang="en-US" sz="1500"/>
              <a:t> language.</a:t>
            </a:r>
            <a:r>
              <a:rPr lang="en-US" sz="1600">
                <a:solidFill>
                  <a:srgbClr val="0D0D0D"/>
                </a:solidFill>
                <a:highlight>
                  <a:srgbClr val="FFFFFF"/>
                </a:highlight>
                <a:latin typeface="Roboto" panose="02000000000000000000"/>
                <a:ea typeface="Roboto" panose="02000000000000000000"/>
                <a:cs typeface="Roboto" panose="02000000000000000000"/>
                <a:sym typeface="Roboto" panose="02000000000000000000"/>
              </a:rPr>
              <a:t>e, and it's a subset of SQL (Structured Query Language) used to define and manage the structure of a database. Essentially, DDL allows you to create, modify, and delete database objects such as tables, indexes, views, and schemas.DDL commands are powerful tools for database administrators and developers to manage the structure of a database and ensure it meets the requirements of an application.</a:t>
            </a:r>
            <a:endParaRPr sz="1500"/>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Let’s talk </a:t>
            </a:r>
            <a:r>
              <a:rPr lang="en-US"/>
              <a:t>with DDL.</a:t>
            </a:r>
            <a:r>
              <a:rPr lang="en-US" sz="1200">
                <a:solidFill>
                  <a:srgbClr val="0D0D0D"/>
                </a:solidFill>
                <a:highlight>
                  <a:srgbClr val="FFFFFF"/>
                </a:highlight>
                <a:latin typeface="Roboto" panose="02000000000000000000"/>
                <a:ea typeface="Roboto" panose="02000000000000000000"/>
                <a:cs typeface="Roboto" panose="02000000000000000000"/>
                <a:sym typeface="Roboto" panose="02000000000000000000"/>
              </a:rPr>
              <a:t>DDL commands are subset of SQL Language.DDL are powerful tools for database administrators and developers to manage the structure of a database and ensure it meets the requirements of an application used for defining and managing the structure of a database.DDL, or Data Definition Language, is a set of SQL commands used to define, modify, and delete the structure of a database. It includes commands like CREATE (to create new database objects), ALTER (to modify existing objects), DROP (to delete objects), and others. DDL is crucial for managing the schema of a database and ensuring its integrity and organization.Exactly! You've captured the essence of DDL perfectly. Its primary purpose is indeed to specify the schema or structure of the database and its objects. With DDL, you can define the layout of tables, the relationships between them, constraints, indexes, and other properties that dictate how data is organized and stored in the database.</a:t>
            </a:r>
            <a:endParaRPr lang="en-US" sz="1200">
              <a:solidFill>
                <a:srgbClr val="0D0D0D"/>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1f0e9eed0ae_0_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f0e9eed0ae_0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Main DDL Commands are </a:t>
            </a:r>
            <a:r>
              <a:rPr lang="en-US">
                <a:solidFill>
                  <a:schemeClr val="dk1"/>
                </a:solidFill>
              </a:rPr>
              <a:t> CREATE,ALTER,DROP,TRUNCATE,COMMENT,RENAME we will  explain on the next slide</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First we discuss About CREATE Command </a:t>
            </a:r>
            <a:r>
              <a:rPr lang="en-US"/>
              <a:t>=</a:t>
            </a:r>
            <a:r>
              <a:rPr lang="en-US"/>
              <a:t>.</a:t>
            </a:r>
            <a:endParaRPr lang="en-US"/>
          </a:p>
        </p:txBody>
      </p:sp>
      <p:sp>
        <p:nvSpPr>
          <p:cNvPr id="111" name="Google Shape;111;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9" name="Google Shape;119;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2" name="Google Shape;132;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0" name="Google Shape;140;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3" name="Google Shape;153;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1" name="Google Shape;161;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4" name="Google Shape;174;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5" name="Google Shape;195;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5" name="Google Shape;205;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8" name="Google Shape;218;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1" name="Google Shape;231;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4" name="Google Shape;244;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7" name="Google Shape;257;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0" name="Google Shape;270;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19"/>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9"/>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2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21"/>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1"/>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2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2"/>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2"/>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23"/>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3"/>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3"/>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3"/>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3"/>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24"/>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6"/>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type="pic" idx="2"/>
          </p:nvPr>
        </p:nvSpPr>
        <p:spPr>
          <a:xfrm>
            <a:off x="5183188" y="987425"/>
            <a:ext cx="6172200" cy="4873625"/>
          </a:xfrm>
          <a:prstGeom prst="rect">
            <a:avLst/>
          </a:prstGeom>
          <a:noFill/>
          <a:ln>
            <a:noFill/>
          </a:ln>
        </p:spPr>
      </p:sp>
      <p:sp>
        <p:nvSpPr>
          <p:cNvPr id="64" name="Google Shape;64;p27"/>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2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2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2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txBox="1"/>
          <p:nvPr>
            <p:ph type="ctrTitle"/>
          </p:nvPr>
        </p:nvSpPr>
        <p:spPr>
          <a:xfrm>
            <a:off x="570230" y="2591435"/>
            <a:ext cx="6029960" cy="990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012D86"/>
              </a:buClr>
              <a:buSzPct val="100000"/>
              <a:buFont typeface="Bell MT" panose="02020503060305020303"/>
              <a:buNone/>
            </a:pP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br>
              <a:rPr lang="en-US" b="1">
                <a:solidFill>
                  <a:srgbClr val="012D86"/>
                </a:solidFill>
                <a:latin typeface="Bell MT" panose="02020503060305020303"/>
                <a:ea typeface="Bell MT" panose="02020503060305020303"/>
                <a:cs typeface="Bell MT" panose="02020503060305020303"/>
                <a:sym typeface="Bell MT" panose="02020503060305020303"/>
              </a:rPr>
            </a:br>
            <a:r>
              <a:rPr lang="en-US" b="1">
                <a:solidFill>
                  <a:srgbClr val="012D86"/>
                </a:solidFill>
                <a:latin typeface="Bell MT" panose="02020503060305020303"/>
                <a:ea typeface="Bell MT" panose="02020503060305020303"/>
                <a:cs typeface="Bell MT" panose="02020503060305020303"/>
                <a:sym typeface="Bell MT" panose="02020503060305020303"/>
              </a:rPr>
              <a:t>DDL</a:t>
            </a:r>
            <a:br>
              <a:rPr lang="en-US" b="1">
                <a:solidFill>
                  <a:srgbClr val="012D86"/>
                </a:solidFill>
                <a:latin typeface="Bell MT" panose="02020503060305020303"/>
                <a:ea typeface="Bell MT" panose="02020503060305020303"/>
                <a:cs typeface="Bell MT" panose="02020503060305020303"/>
                <a:sym typeface="Bell MT" panose="02020503060305020303"/>
              </a:rPr>
            </a:br>
            <a:endParaRPr b="1">
              <a:solidFill>
                <a:srgbClr val="012D86"/>
              </a:solidFill>
              <a:latin typeface="Bell MT" panose="02020503060305020303"/>
              <a:ea typeface="Bell MT" panose="02020503060305020303"/>
              <a:cs typeface="Bell MT" panose="02020503060305020303"/>
              <a:sym typeface="Bell MT" panose="02020503060305020303"/>
            </a:endParaRPr>
          </a:p>
        </p:txBody>
      </p:sp>
      <p:pic>
        <p:nvPicPr>
          <p:cNvPr id="85" name="Google Shape;85;p1"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86" name="Google Shape;86;p1"/>
          <p:cNvSpPr/>
          <p:nvPr/>
        </p:nvSpPr>
        <p:spPr>
          <a:xfrm>
            <a:off x="570230" y="2975610"/>
            <a:ext cx="6029960" cy="744220"/>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12D86"/>
              </a:buClr>
              <a:buSzPts val="3600"/>
              <a:buFont typeface="Bell MT" panose="02020503060305020303"/>
              <a:buNone/>
            </a:pPr>
            <a:r>
              <a:rPr lang="en-US" sz="3600" b="1" i="0" u="none" strike="noStrike" cap="none">
                <a:solidFill>
                  <a:srgbClr val="012D86"/>
                </a:solidFill>
                <a:latin typeface="Bell MT" panose="02020503060305020303"/>
                <a:ea typeface="Bell MT" panose="02020503060305020303"/>
                <a:cs typeface="Bell MT" panose="02020503060305020303"/>
                <a:sym typeface="Bell MT" panose="02020503060305020303"/>
              </a:rPr>
              <a:t>Data Definition Language</a:t>
            </a:r>
            <a:endParaRPr sz="3600" b="1" i="0" u="none" strike="noStrike" cap="none">
              <a:solidFill>
                <a:srgbClr val="012D86"/>
              </a:solidFill>
              <a:latin typeface="Bell MT" panose="02020503060305020303"/>
              <a:ea typeface="Bell MT" panose="02020503060305020303"/>
              <a:cs typeface="Bell MT" panose="02020503060305020303"/>
              <a:sym typeface="Bell MT" panose="02020503060305020303"/>
            </a:endParaRPr>
          </a:p>
        </p:txBody>
      </p:sp>
      <p:pic>
        <p:nvPicPr>
          <p:cNvPr id="87" name="Google Shape;87;p1" descr="2794209"/>
          <p:cNvPicPr preferRelativeResize="0"/>
          <p:nvPr/>
        </p:nvPicPr>
        <p:blipFill rotWithShape="1">
          <a:blip r:embed="rId2"/>
          <a:srcRect/>
          <a:stretch>
            <a:fillRect/>
          </a:stretch>
        </p:blipFill>
        <p:spPr>
          <a:xfrm>
            <a:off x="6600190" y="662940"/>
            <a:ext cx="5325745" cy="60312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par>
                                <p:cTn id="8" presetID="10" presetClass="entr" presetSubtype="0"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2"/>
          <p:cNvSpPr txBox="1"/>
          <p:nvPr>
            <p:ph type="title"/>
          </p:nvPr>
        </p:nvSpPr>
        <p:spPr>
          <a:xfrm>
            <a:off x="9144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2D86"/>
              </a:buClr>
              <a:buSzPts val="4000"/>
              <a:buFont typeface="Bell MT" panose="02020503060305020303"/>
              <a:buNone/>
            </a:pPr>
            <a:r>
              <a:rPr lang="en-US" sz="4000" b="1">
                <a:solidFill>
                  <a:srgbClr val="012D86"/>
                </a:solidFill>
                <a:latin typeface="Bell MT" panose="02020503060305020303"/>
                <a:ea typeface="Bell MT" panose="02020503060305020303"/>
                <a:cs typeface="Bell MT" panose="02020503060305020303"/>
                <a:sym typeface="Bell MT" panose="02020503060305020303"/>
              </a:rPr>
              <a:t>INTRODUCTION</a:t>
            </a:r>
            <a:endParaRPr sz="4000" b="1">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93" name="Google Shape;93;p2"/>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a:p>
            <a:pPr marL="0" lvl="0" indent="0" algn="l" rtl="0">
              <a:lnSpc>
                <a:spcPct val="90000"/>
              </a:lnSpc>
              <a:spcBef>
                <a:spcPts val="1000"/>
              </a:spcBef>
              <a:spcAft>
                <a:spcPts val="0"/>
              </a:spcAft>
              <a:buClr>
                <a:schemeClr val="dk1"/>
              </a:buClr>
              <a:buSzPts val="1800"/>
              <a:buNone/>
            </a:pPr>
            <a:endParaRPr sz="1800">
              <a:solidFill>
                <a:srgbClr val="012D86"/>
              </a:solidFill>
            </a:endParaRPr>
          </a:p>
        </p:txBody>
      </p:sp>
      <p:pic>
        <p:nvPicPr>
          <p:cNvPr id="94" name="Google Shape;94;p2" descr="3808949"/>
          <p:cNvPicPr preferRelativeResize="0"/>
          <p:nvPr>
            <p:ph type="body" idx="4294967295"/>
          </p:nvPr>
        </p:nvPicPr>
        <p:blipFill rotWithShape="1">
          <a:blip r:embed="rId1"/>
          <a:srcRect/>
          <a:stretch>
            <a:fillRect/>
          </a:stretch>
        </p:blipFill>
        <p:spPr>
          <a:xfrm>
            <a:off x="6794500" y="2284730"/>
            <a:ext cx="4559300" cy="3454400"/>
          </a:xfrm>
          <a:prstGeom prst="rect">
            <a:avLst/>
          </a:prstGeom>
          <a:noFill/>
          <a:ln>
            <a:noFill/>
          </a:ln>
        </p:spPr>
      </p:pic>
      <p:sp>
        <p:nvSpPr>
          <p:cNvPr id="95" name="Google Shape;95;p2"/>
          <p:cNvSpPr/>
          <p:nvPr/>
        </p:nvSpPr>
        <p:spPr>
          <a:xfrm>
            <a:off x="709930" y="1667510"/>
            <a:ext cx="5309235" cy="907415"/>
          </a:xfrm>
          <a:prstGeom prst="roundRect">
            <a:avLst>
              <a:gd name="adj" fmla="val 16667"/>
            </a:avLst>
          </a:prstGeom>
          <a:gradFill>
            <a:gsLst>
              <a:gs pos="0">
                <a:srgbClr val="012D86"/>
              </a:gs>
              <a:gs pos="100000">
                <a:srgbClr val="0E2557"/>
              </a:gs>
            </a:gsLst>
            <a:lin ang="0" scaled="0"/>
          </a:gra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DDL stands for Data Definition Language, and it is a subset of SQL</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96" name="Google Shape;96;p2"/>
          <p:cNvSpPr/>
          <p:nvPr/>
        </p:nvSpPr>
        <p:spPr>
          <a:xfrm>
            <a:off x="710565" y="2687955"/>
            <a:ext cx="5309235" cy="863600"/>
          </a:xfrm>
          <a:prstGeom prst="roundRect">
            <a:avLst>
              <a:gd name="adj" fmla="val 16667"/>
            </a:avLst>
          </a:prstGeom>
          <a:gradFill>
            <a:gsLst>
              <a:gs pos="0">
                <a:srgbClr val="012D86"/>
              </a:gs>
              <a:gs pos="100000">
                <a:srgbClr val="0E2557"/>
              </a:gs>
            </a:gsLst>
            <a:lin ang="0" scaled="0"/>
          </a:gra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It is used to define and manage the structure of a database.</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97" name="Google Shape;97;p2"/>
          <p:cNvSpPr/>
          <p:nvPr/>
        </p:nvSpPr>
        <p:spPr>
          <a:xfrm>
            <a:off x="710565" y="3721100"/>
            <a:ext cx="5309235" cy="917575"/>
          </a:xfrm>
          <a:prstGeom prst="roundRect">
            <a:avLst>
              <a:gd name="adj" fmla="val 16667"/>
            </a:avLst>
          </a:prstGeom>
          <a:gradFill>
            <a:gsLst>
              <a:gs pos="0">
                <a:srgbClr val="012D86"/>
              </a:gs>
              <a:gs pos="100000">
                <a:srgbClr val="0E2557"/>
              </a:gs>
            </a:gsLst>
            <a:lin ang="0" scaled="0"/>
          </a:gra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DDL statements are responsible for creating, altering, and deleting database objects such as tables, views, indexes, and constraints.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98" name="Google Shape;98;p2"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99" name="Google Shape;99;p2"/>
          <p:cNvSpPr/>
          <p:nvPr/>
        </p:nvSpPr>
        <p:spPr>
          <a:xfrm>
            <a:off x="709930" y="4808220"/>
            <a:ext cx="5309235" cy="917575"/>
          </a:xfrm>
          <a:prstGeom prst="roundRect">
            <a:avLst>
              <a:gd name="adj" fmla="val 16667"/>
            </a:avLst>
          </a:prstGeom>
          <a:gradFill>
            <a:gsLst>
              <a:gs pos="0">
                <a:srgbClr val="012D86"/>
              </a:gs>
              <a:gs pos="100000">
                <a:srgbClr val="0E2557"/>
              </a:gs>
            </a:gsLst>
            <a:lin ang="0" scaled="0"/>
          </a:gra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The primary purpose of DDL in SQL is to specify the schema or structure of the database and its objects.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par>
                                <p:cTn id="8" presetID="10" presetClass="entr" presetSubtype="0"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5"/>
                                        </p:tgtEl>
                                        <p:attrNameLst>
                                          <p:attrName>style.visibility</p:attrName>
                                        </p:attrNameLst>
                                      </p:cBhvr>
                                      <p:to>
                                        <p:strVal val="visible"/>
                                      </p:to>
                                    </p:set>
                                    <p:animEffect transition="in" filter="fade">
                                      <p:cBhvr>
                                        <p:cTn id="15" dur="1000"/>
                                        <p:tgtEl>
                                          <p:spTgt spid="9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6"/>
                                        </p:tgtEl>
                                        <p:attrNameLst>
                                          <p:attrName>style.visibility</p:attrName>
                                        </p:attrNameLst>
                                      </p:cBhvr>
                                      <p:to>
                                        <p:strVal val="visible"/>
                                      </p:to>
                                    </p:set>
                                    <p:animEffect transition="in" filter="fade">
                                      <p:cBhvr>
                                        <p:cTn id="20" dur="1000"/>
                                        <p:tgtEl>
                                          <p:spTgt spid="9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7"/>
                                        </p:tgtEl>
                                        <p:attrNameLst>
                                          <p:attrName>style.visibility</p:attrName>
                                        </p:attrNameLst>
                                      </p:cBhvr>
                                      <p:to>
                                        <p:strVal val="visible"/>
                                      </p:to>
                                    </p:set>
                                    <p:animEffect transition="in" filter="fade">
                                      <p:cBhvr>
                                        <p:cTn id="25" dur="1000"/>
                                        <p:tgtEl>
                                          <p:spTgt spid="9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9"/>
                                        </p:tgtEl>
                                        <p:attrNameLst>
                                          <p:attrName>style.visibility</p:attrName>
                                        </p:attrNameLst>
                                      </p:cBhvr>
                                      <p:to>
                                        <p:strVal val="visible"/>
                                      </p:to>
                                    </p:set>
                                    <p:animEffect transition="in" filter="fade">
                                      <p:cBhvr>
                                        <p:cTn id="30"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g1f0e9eed0ae_0_8"/>
          <p:cNvSpPr txBox="1"/>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4900" b="1">
                <a:solidFill>
                  <a:srgbClr val="002060"/>
                </a:solidFill>
                <a:highlight>
                  <a:schemeClr val="lt1"/>
                </a:highlight>
                <a:latin typeface="Bell MT" panose="02020503060305020303"/>
                <a:ea typeface="Bell MT" panose="02020503060305020303"/>
                <a:cs typeface="Bell MT" panose="02020503060305020303"/>
                <a:sym typeface="Bell MT" panose="02020503060305020303"/>
              </a:rPr>
              <a:t>LIST OF DDL COMMANDS</a:t>
            </a:r>
            <a:endParaRPr sz="4900" b="1">
              <a:solidFill>
                <a:srgbClr val="002060"/>
              </a:solidFill>
              <a:highlight>
                <a:schemeClr val="lt1"/>
              </a:highlight>
              <a:latin typeface="Bell MT" panose="02020503060305020303"/>
              <a:ea typeface="Bell MT" panose="02020503060305020303"/>
              <a:cs typeface="Bell MT" panose="02020503060305020303"/>
              <a:sym typeface="Bell MT" panose="02020503060305020303"/>
            </a:endParaRPr>
          </a:p>
        </p:txBody>
      </p:sp>
      <p:sp>
        <p:nvSpPr>
          <p:cNvPr id="105" name="Google Shape;105;g1f0e9eed0ae_0_8"/>
          <p:cNvSpPr txBox="1"/>
          <p:nvPr>
            <p:ph type="body" idx="1"/>
          </p:nvPr>
        </p:nvSpPr>
        <p:spPr>
          <a:xfrm>
            <a:off x="5962975" y="1825625"/>
            <a:ext cx="5507100" cy="4351200"/>
          </a:xfrm>
          <a:prstGeom prst="rect">
            <a:avLst/>
          </a:prstGeom>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lt1"/>
              </a:buClr>
              <a:buSzPts val="1600"/>
              <a:buFont typeface="Comic Sans MS" panose="030F07020303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DDL stands for Data Definition Language, and it is a subset of SQL</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lvl="0" indent="0" algn="l" rtl="0">
              <a:spcBef>
                <a:spcPts val="1000"/>
              </a:spcBef>
              <a:spcAft>
                <a:spcPts val="0"/>
              </a:spcAft>
              <a:buNone/>
            </a:pPr>
          </a:p>
        </p:txBody>
      </p:sp>
      <p:sp>
        <p:nvSpPr>
          <p:cNvPr id="106" name="Google Shape;106;g1f0e9eed0ae_0_8"/>
          <p:cNvSpPr/>
          <p:nvPr/>
        </p:nvSpPr>
        <p:spPr>
          <a:xfrm>
            <a:off x="709925" y="1667450"/>
            <a:ext cx="5507100" cy="4998900"/>
          </a:xfrm>
          <a:prstGeom prst="roundRect">
            <a:avLst>
              <a:gd name="adj" fmla="val 16667"/>
            </a:avLst>
          </a:prstGeom>
          <a:gradFill>
            <a:gsLst>
              <a:gs pos="0">
                <a:srgbClr val="012D86"/>
              </a:gs>
              <a:gs pos="100000">
                <a:srgbClr val="0E2557"/>
              </a:gs>
            </a:gsLst>
            <a:lin ang="0" scaled="0"/>
          </a:gra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600"/>
              <a:buFont typeface="Comic Sans MS" panose="030F07020303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107" name="Google Shape;107;g1f0e9eed0ae_0_8"/>
          <p:cNvPicPr preferRelativeResize="0"/>
          <p:nvPr/>
        </p:nvPicPr>
        <p:blipFill>
          <a:blip r:embed="rId1"/>
          <a:stretch>
            <a:fillRect/>
          </a:stretch>
        </p:blipFill>
        <p:spPr>
          <a:xfrm>
            <a:off x="6602275" y="1580575"/>
            <a:ext cx="4867799" cy="4841298"/>
          </a:xfrm>
          <a:prstGeom prst="rect">
            <a:avLst/>
          </a:prstGeom>
          <a:noFill/>
          <a:ln>
            <a:noFill/>
          </a:ln>
        </p:spPr>
      </p:pic>
      <p:sp>
        <p:nvSpPr>
          <p:cNvPr id="108" name="Google Shape;108;g1f0e9eed0ae_0_8"/>
          <p:cNvSpPr txBox="1"/>
          <p:nvPr/>
        </p:nvSpPr>
        <p:spPr>
          <a:xfrm>
            <a:off x="1284425" y="2249200"/>
            <a:ext cx="4504200" cy="3927600"/>
          </a:xfrm>
          <a:prstGeom prst="rect">
            <a:avLst/>
          </a:prstGeom>
          <a:noFill/>
          <a:ln>
            <a:noFill/>
          </a:ln>
        </p:spPr>
        <p:txBody>
          <a:bodyPr spcFirstLastPara="1" wrap="square" lIns="91425" tIns="91425" rIns="91425" bIns="91425" anchor="t" anchorCtr="0">
            <a:noAutofit/>
          </a:bodyPr>
          <a:lstStyle/>
          <a:p>
            <a:pPr marL="0" lvl="0" indent="457200" algn="l" rtl="0">
              <a:lnSpc>
                <a:spcPct val="115000"/>
              </a:lnSpc>
              <a:spcBef>
                <a:spcPts val="0"/>
              </a:spcBef>
              <a:spcAft>
                <a:spcPts val="0"/>
              </a:spcAft>
              <a:buClr>
                <a:schemeClr val="dk1"/>
              </a:buClr>
              <a:buSzPts val="1100"/>
              <a:buFont typeface="Arial" panose="020B0604020202020204"/>
              <a:buNone/>
            </a:pPr>
            <a:r>
              <a:rPr lang="en-US" sz="3700">
                <a:solidFill>
                  <a:schemeClr val="lt1"/>
                </a:solidFill>
                <a:latin typeface="Calibri" panose="020F0502020204030204"/>
                <a:ea typeface="Calibri" panose="020F0502020204030204"/>
                <a:cs typeface="Calibri" panose="020F0502020204030204"/>
                <a:sym typeface="Calibri" panose="020F0502020204030204"/>
              </a:rPr>
              <a:t>CREATE</a:t>
            </a:r>
            <a:endParaRPr sz="3700">
              <a:solidFill>
                <a:schemeClr val="lt1"/>
              </a:solidFill>
              <a:latin typeface="Calibri" panose="020F0502020204030204"/>
              <a:ea typeface="Calibri" panose="020F0502020204030204"/>
              <a:cs typeface="Calibri" panose="020F0502020204030204"/>
              <a:sym typeface="Calibri" panose="020F0502020204030204"/>
            </a:endParaRPr>
          </a:p>
          <a:p>
            <a:pPr marL="457200" lvl="0" indent="0" algn="l" rtl="0">
              <a:lnSpc>
                <a:spcPct val="115000"/>
              </a:lnSpc>
              <a:spcBef>
                <a:spcPts val="0"/>
              </a:spcBef>
              <a:spcAft>
                <a:spcPts val="0"/>
              </a:spcAft>
              <a:buClr>
                <a:schemeClr val="dk1"/>
              </a:buClr>
              <a:buSzPts val="1100"/>
              <a:buFont typeface="Arial" panose="020B0604020202020204"/>
              <a:buNone/>
            </a:pPr>
            <a:r>
              <a:rPr lang="en-US" sz="3700">
                <a:solidFill>
                  <a:schemeClr val="lt1"/>
                </a:solidFill>
                <a:latin typeface="Calibri" panose="020F0502020204030204"/>
                <a:ea typeface="Calibri" panose="020F0502020204030204"/>
                <a:cs typeface="Calibri" panose="020F0502020204030204"/>
                <a:sym typeface="Calibri" panose="020F0502020204030204"/>
              </a:rPr>
              <a:t>ALTER</a:t>
            </a:r>
            <a:endParaRPr sz="3700">
              <a:solidFill>
                <a:schemeClr val="lt1"/>
              </a:solidFill>
              <a:latin typeface="Calibri" panose="020F0502020204030204"/>
              <a:ea typeface="Calibri" panose="020F0502020204030204"/>
              <a:cs typeface="Calibri" panose="020F0502020204030204"/>
              <a:sym typeface="Calibri" panose="020F0502020204030204"/>
            </a:endParaRPr>
          </a:p>
          <a:p>
            <a:pPr marL="457200" lvl="0" indent="0" algn="l" rtl="0">
              <a:lnSpc>
                <a:spcPct val="115000"/>
              </a:lnSpc>
              <a:spcBef>
                <a:spcPts val="0"/>
              </a:spcBef>
              <a:spcAft>
                <a:spcPts val="0"/>
              </a:spcAft>
              <a:buClr>
                <a:schemeClr val="dk1"/>
              </a:buClr>
              <a:buSzPts val="1100"/>
              <a:buFont typeface="Arial" panose="020B0604020202020204"/>
              <a:buNone/>
            </a:pPr>
            <a:r>
              <a:rPr lang="en-US" sz="3700">
                <a:solidFill>
                  <a:schemeClr val="lt1"/>
                </a:solidFill>
                <a:latin typeface="Calibri" panose="020F0502020204030204"/>
                <a:ea typeface="Calibri" panose="020F0502020204030204"/>
                <a:cs typeface="Calibri" panose="020F0502020204030204"/>
                <a:sym typeface="Calibri" panose="020F0502020204030204"/>
              </a:rPr>
              <a:t>DROP</a:t>
            </a:r>
            <a:endParaRPr sz="3700">
              <a:solidFill>
                <a:schemeClr val="lt1"/>
              </a:solidFill>
              <a:latin typeface="Calibri" panose="020F0502020204030204"/>
              <a:ea typeface="Calibri" panose="020F0502020204030204"/>
              <a:cs typeface="Calibri" panose="020F0502020204030204"/>
              <a:sym typeface="Calibri" panose="020F0502020204030204"/>
            </a:endParaRPr>
          </a:p>
          <a:p>
            <a:pPr marL="457200" lvl="0" indent="0" algn="l" rtl="0">
              <a:lnSpc>
                <a:spcPct val="115000"/>
              </a:lnSpc>
              <a:spcBef>
                <a:spcPts val="0"/>
              </a:spcBef>
              <a:spcAft>
                <a:spcPts val="0"/>
              </a:spcAft>
              <a:buClr>
                <a:schemeClr val="dk1"/>
              </a:buClr>
              <a:buSzPts val="1100"/>
              <a:buFont typeface="Arial" panose="020B0604020202020204"/>
              <a:buNone/>
            </a:pPr>
            <a:r>
              <a:rPr lang="en-US" sz="3700">
                <a:solidFill>
                  <a:schemeClr val="lt1"/>
                </a:solidFill>
                <a:latin typeface="Calibri" panose="020F0502020204030204"/>
                <a:ea typeface="Calibri" panose="020F0502020204030204"/>
                <a:cs typeface="Calibri" panose="020F0502020204030204"/>
                <a:sym typeface="Calibri" panose="020F0502020204030204"/>
              </a:rPr>
              <a:t>TRUNCATE</a:t>
            </a:r>
            <a:endParaRPr sz="3700">
              <a:solidFill>
                <a:schemeClr val="lt1"/>
              </a:solidFill>
              <a:latin typeface="Calibri" panose="020F0502020204030204"/>
              <a:ea typeface="Calibri" panose="020F0502020204030204"/>
              <a:cs typeface="Calibri" panose="020F0502020204030204"/>
              <a:sym typeface="Calibri" panose="020F0502020204030204"/>
            </a:endParaRPr>
          </a:p>
          <a:p>
            <a:pPr marL="457200" lvl="0" indent="0" algn="l" rtl="0">
              <a:lnSpc>
                <a:spcPct val="115000"/>
              </a:lnSpc>
              <a:spcBef>
                <a:spcPts val="0"/>
              </a:spcBef>
              <a:spcAft>
                <a:spcPts val="0"/>
              </a:spcAft>
              <a:buClr>
                <a:schemeClr val="dk1"/>
              </a:buClr>
              <a:buSzPts val="1100"/>
              <a:buFont typeface="Arial" panose="020B0604020202020204"/>
              <a:buNone/>
            </a:pPr>
            <a:r>
              <a:rPr lang="en-US" sz="3700">
                <a:solidFill>
                  <a:schemeClr val="lt1"/>
                </a:solidFill>
                <a:latin typeface="Calibri" panose="020F0502020204030204"/>
                <a:ea typeface="Calibri" panose="020F0502020204030204"/>
                <a:cs typeface="Calibri" panose="020F0502020204030204"/>
                <a:sym typeface="Calibri" panose="020F0502020204030204"/>
              </a:rPr>
              <a:t>RENAME</a:t>
            </a:r>
            <a:endParaRPr sz="32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2" name="Shape 112"/>
        <p:cNvGrpSpPr/>
        <p:nvPr/>
      </p:nvGrpSpPr>
      <p:grpSpPr>
        <a:xfrm>
          <a:off x="0" y="0"/>
          <a:ext cx="0" cy="0"/>
          <a:chOff x="0" y="0"/>
          <a:chExt cx="0" cy="0"/>
        </a:xfrm>
      </p:grpSpPr>
      <p:sp>
        <p:nvSpPr>
          <p:cNvPr id="113" name="Google Shape;113;p3"/>
          <p:cNvSpPr/>
          <p:nvPr/>
        </p:nvSpPr>
        <p:spPr>
          <a:xfrm>
            <a:off x="633730" y="2296795"/>
            <a:ext cx="6369685" cy="188468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 The CREATE statement is used to create new database objects such as tables, views, indexes, and constraints. It defines the structure of the object, including column names, data types, and other properties.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114" name="Google Shape;114;p3" descr="4952527"/>
          <p:cNvPicPr preferRelativeResize="0"/>
          <p:nvPr>
            <p:ph type="body" idx="1"/>
          </p:nvPr>
        </p:nvPicPr>
        <p:blipFill rotWithShape="1">
          <a:blip r:embed="rId1"/>
          <a:srcRect/>
          <a:stretch>
            <a:fillRect/>
          </a:stretch>
        </p:blipFill>
        <p:spPr>
          <a:xfrm>
            <a:off x="7266940" y="1553210"/>
            <a:ext cx="4351655" cy="5108575"/>
          </a:xfrm>
          <a:prstGeom prst="rect">
            <a:avLst/>
          </a:prstGeom>
          <a:noFill/>
          <a:ln>
            <a:noFill/>
          </a:ln>
        </p:spPr>
      </p:pic>
      <p:pic>
        <p:nvPicPr>
          <p:cNvPr id="115" name="Google Shape;115;p3"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16" name="Google Shape;116;p3"/>
          <p:cNvSpPr/>
          <p:nvPr/>
        </p:nvSpPr>
        <p:spPr>
          <a:xfrm>
            <a:off x="572135" y="1150620"/>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3600"/>
              <a:buFont typeface="Bell MT" panose="02020503060305020303"/>
              <a:buNone/>
            </a:pPr>
            <a:r>
              <a:rPr lang="en-US" sz="3600" b="1" i="0" u="none" strike="noStrike" cap="none">
                <a:solidFill>
                  <a:srgbClr val="002060"/>
                </a:solidFill>
                <a:latin typeface="Bell MT" panose="02020503060305020303"/>
                <a:ea typeface="Bell MT" panose="02020503060305020303"/>
                <a:cs typeface="Bell MT" panose="02020503060305020303"/>
                <a:sym typeface="Bell MT" panose="02020503060305020303"/>
              </a:rPr>
              <a:t>1. CREATE Statement:</a:t>
            </a:r>
            <a:endParaRPr sz="3600" b="1" i="0" u="none" strike="noStrike" cap="none">
              <a:solidFill>
                <a:srgbClr val="002060"/>
              </a:solidFill>
              <a:latin typeface="Bell MT" panose="02020503060305020303"/>
              <a:ea typeface="Bell MT" panose="02020503060305020303"/>
              <a:cs typeface="Bell MT" panose="02020503060305020303"/>
              <a:sym typeface="Bell MT" panose="02020503060305020303"/>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10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20" name="Shape 120"/>
        <p:cNvGrpSpPr/>
        <p:nvPr/>
      </p:nvGrpSpPr>
      <p:grpSpPr>
        <a:xfrm>
          <a:off x="0" y="0"/>
          <a:ext cx="0" cy="0"/>
          <a:chOff x="0" y="0"/>
          <a:chExt cx="0" cy="0"/>
        </a:xfrm>
      </p:grpSpPr>
      <p:pic>
        <p:nvPicPr>
          <p:cNvPr id="121" name="Google Shape;121;p4"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122" name="Google Shape;122;p4"/>
          <p:cNvSpPr txBox="1"/>
          <p:nvPr/>
        </p:nvSpPr>
        <p:spPr>
          <a:xfrm>
            <a:off x="869315" y="665480"/>
            <a:ext cx="3830320"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Bell MT" panose="02020503060305020303"/>
                <a:ea typeface="Bell MT" panose="02020503060305020303"/>
                <a:cs typeface="Bell MT" panose="02020503060305020303"/>
                <a:sym typeface="Bell MT" panose="02020503060305020303"/>
              </a:rPr>
              <a:t>a) CREATE Table:</a:t>
            </a:r>
            <a:endParaRPr sz="2000" b="1">
              <a:solidFill>
                <a:schemeClr val="dk1"/>
              </a:solidFill>
              <a:latin typeface="Bell MT" panose="02020503060305020303"/>
              <a:ea typeface="Bell MT" panose="02020503060305020303"/>
              <a:cs typeface="Bell MT" panose="02020503060305020303"/>
              <a:sym typeface="Bell MT" panose="02020503060305020303"/>
            </a:endParaRPr>
          </a:p>
          <a:p>
            <a:pPr marL="0" marR="0" lvl="0" indent="0" algn="l" rtl="0">
              <a:spcBef>
                <a:spcPts val="0"/>
              </a:spcBef>
              <a:spcAft>
                <a:spcPts val="0"/>
              </a:spcAft>
              <a:buNone/>
            </a:pPr>
            <a:endParaRPr sz="2000" b="1">
              <a:solidFill>
                <a:schemeClr val="dk1"/>
              </a:solidFill>
              <a:latin typeface="Bell MT" panose="02020503060305020303"/>
              <a:ea typeface="Bell MT" panose="02020503060305020303"/>
              <a:cs typeface="Bell MT" panose="02020503060305020303"/>
              <a:sym typeface="Bell MT" panose="02020503060305020303"/>
            </a:endParaRPr>
          </a:p>
          <a:p>
            <a:pPr marL="0" marR="0" lvl="0" indent="0" algn="l" rtl="0">
              <a:spcBef>
                <a:spcPts val="0"/>
              </a:spcBef>
              <a:spcAft>
                <a:spcPts val="0"/>
              </a:spcAft>
              <a:buNone/>
            </a:pPr>
            <a:endParaRPr sz="2000" b="1">
              <a:solidFill>
                <a:schemeClr val="dk1"/>
              </a:solidFill>
              <a:latin typeface="Bell MT" panose="02020503060305020303"/>
              <a:ea typeface="Bell MT" panose="02020503060305020303"/>
              <a:cs typeface="Bell MT" panose="02020503060305020303"/>
              <a:sym typeface="Bell MT" panose="02020503060305020303"/>
            </a:endParaRPr>
          </a:p>
        </p:txBody>
      </p:sp>
      <p:pic>
        <p:nvPicPr>
          <p:cNvPr id="123" name="Google Shape;123;p4" descr="computer"/>
          <p:cNvPicPr preferRelativeResize="0"/>
          <p:nvPr>
            <p:ph type="body" idx="1"/>
          </p:nvPr>
        </p:nvPicPr>
        <p:blipFill rotWithShape="1">
          <a:blip r:embed="rId2"/>
          <a:srcRect/>
          <a:stretch>
            <a:fillRect/>
          </a:stretch>
        </p:blipFill>
        <p:spPr>
          <a:xfrm>
            <a:off x="-127635" y="3602355"/>
            <a:ext cx="5824855" cy="2258060"/>
          </a:xfrm>
          <a:prstGeom prst="rect">
            <a:avLst/>
          </a:prstGeom>
          <a:noFill/>
          <a:ln>
            <a:noFill/>
          </a:ln>
        </p:spPr>
      </p:pic>
      <p:sp>
        <p:nvSpPr>
          <p:cNvPr id="124" name="Google Shape;124;p4"/>
          <p:cNvSpPr txBox="1"/>
          <p:nvPr/>
        </p:nvSpPr>
        <p:spPr>
          <a:xfrm>
            <a:off x="1148080" y="4043045"/>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column1 datatype constraint,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column2 datatype constraint,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t>
            </a:r>
            <a:endParaRPr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125" name="Google Shape;125;p4" descr="computer"/>
          <p:cNvPicPr preferRelativeResize="0"/>
          <p:nvPr/>
        </p:nvPicPr>
        <p:blipFill rotWithShape="1">
          <a:blip r:embed="rId2"/>
          <a:srcRect/>
          <a:stretch>
            <a:fillRect/>
          </a:stretch>
        </p:blipFill>
        <p:spPr>
          <a:xfrm>
            <a:off x="6501765" y="3704590"/>
            <a:ext cx="5824855" cy="2515870"/>
          </a:xfrm>
          <a:prstGeom prst="rect">
            <a:avLst/>
          </a:prstGeom>
          <a:noFill/>
          <a:ln>
            <a:noFill/>
          </a:ln>
        </p:spPr>
      </p:pic>
      <p:sp>
        <p:nvSpPr>
          <p:cNvPr id="126" name="Google Shape;126;p4"/>
          <p:cNvSpPr txBox="1"/>
          <p:nvPr/>
        </p:nvSpPr>
        <p:spPr>
          <a:xfrm>
            <a:off x="7777480" y="4145280"/>
            <a:ext cx="3273425" cy="1198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 PRIMARY KEY,</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name VARCHAR(50) NOT NULL,</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age 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salary DECIMAL(10, 2)</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27" name="Google Shape;127;p4"/>
          <p:cNvSpPr/>
          <p:nvPr/>
        </p:nvSpPr>
        <p:spPr>
          <a:xfrm>
            <a:off x="869315" y="1426210"/>
            <a:ext cx="6369685" cy="116840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10000"/>
              </a:lnSpc>
              <a:spcBef>
                <a:spcPts val="1000"/>
              </a:spcBef>
              <a:spcAft>
                <a:spcPts val="0"/>
              </a:spcAft>
              <a:buClr>
                <a:schemeClr val="lt1"/>
              </a:buClr>
              <a:buSzPts val="1800"/>
              <a:buFont typeface="Arial" panose="020B0604020202020204"/>
              <a:buNone/>
            </a:pP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10000"/>
              </a:lnSpc>
              <a:spcBef>
                <a:spcPts val="100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 It creates a new table with the specified name and defines the columns, data types, and constraints.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10000"/>
              </a:lnSpc>
              <a:spcBef>
                <a:spcPts val="1000"/>
              </a:spcBef>
              <a:spcAft>
                <a:spcPts val="0"/>
              </a:spcAft>
              <a:buClr>
                <a:schemeClr val="lt1"/>
              </a:buClr>
              <a:buSzPts val="1800"/>
              <a:buFont typeface="Arial" panose="020B0604020202020204"/>
              <a:buNone/>
            </a:pP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10000"/>
              </a:lnSpc>
              <a:spcBef>
                <a:spcPts val="1000"/>
              </a:spcBef>
              <a:spcAft>
                <a:spcPts val="0"/>
              </a:spcAft>
              <a:buClr>
                <a:schemeClr val="lt1"/>
              </a:buClr>
              <a:buSzPts val="1800"/>
              <a:buFont typeface="Arial" panose="020B0604020202020204"/>
              <a:buNone/>
            </a:pP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128" name="Google Shape;128;p4"/>
          <p:cNvSpPr txBox="1"/>
          <p:nvPr/>
        </p:nvSpPr>
        <p:spPr>
          <a:xfrm>
            <a:off x="948055" y="3373755"/>
            <a:ext cx="92075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9" name="Google Shape;129;p4"/>
          <p:cNvSpPr txBox="1"/>
          <p:nvPr/>
        </p:nvSpPr>
        <p:spPr>
          <a:xfrm>
            <a:off x="7334885" y="3446780"/>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fade">
                                      <p:cBhvr>
                                        <p:cTn id="12" dur="500"/>
                                        <p:tgtEl>
                                          <p:spTgt spid="123"/>
                                        </p:tgtEl>
                                      </p:cBhvr>
                                    </p:animEffect>
                                  </p:childTnLst>
                                </p:cTn>
                              </p:par>
                              <p:par>
                                <p:cTn id="13" presetID="10" presetClass="entr" presetSubtype="0" fill="hold" nodeType="with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500"/>
                                        <p:tgtEl>
                                          <p:spTgt spid="128"/>
                                        </p:tgtEl>
                                      </p:cBhvr>
                                    </p:animEffect>
                                  </p:childTnLst>
                                </p:cTn>
                              </p:par>
                              <p:par>
                                <p:cTn id="16" presetID="10" presetClass="entr" presetSubtype="0" fill="hold" nodeType="withEffect">
                                  <p:stCondLst>
                                    <p:cond delay="0"/>
                                  </p:stCondLst>
                                  <p:childTnLst>
                                    <p:set>
                                      <p:cBhvr>
                                        <p:cTn id="17" dur="1" fill="hold">
                                          <p:stCondLst>
                                            <p:cond delay="0"/>
                                          </p:stCondLst>
                                        </p:cTn>
                                        <p:tgtEl>
                                          <p:spTgt spid="124"/>
                                        </p:tgtEl>
                                        <p:attrNameLst>
                                          <p:attrName>style.visibility</p:attrName>
                                        </p:attrNameLst>
                                      </p:cBhvr>
                                      <p:to>
                                        <p:strVal val="visible"/>
                                      </p:to>
                                    </p:set>
                                    <p:animEffect transition="in" filter="fade">
                                      <p:cBhvr>
                                        <p:cTn id="18" dur="500"/>
                                        <p:tgtEl>
                                          <p:spTgt spid="1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9"/>
                                        </p:tgtEl>
                                        <p:attrNameLst>
                                          <p:attrName>style.visibility</p:attrName>
                                        </p:attrNameLst>
                                      </p:cBhvr>
                                      <p:to>
                                        <p:strVal val="visible"/>
                                      </p:to>
                                    </p:set>
                                    <p:animEffect transition="in" filter="fade">
                                      <p:cBhvr>
                                        <p:cTn id="23" dur="1000"/>
                                        <p:tgtEl>
                                          <p:spTgt spid="129"/>
                                        </p:tgtEl>
                                      </p:cBhvr>
                                    </p:animEffect>
                                  </p:childTnLst>
                                </p:cTn>
                              </p:par>
                              <p:par>
                                <p:cTn id="24" presetID="10" presetClass="entr" presetSubtype="0" fill="hold" nodeType="withEffect">
                                  <p:stCondLst>
                                    <p:cond delay="0"/>
                                  </p:stCondLst>
                                  <p:childTnLst>
                                    <p:set>
                                      <p:cBhvr>
                                        <p:cTn id="25" dur="1" fill="hold">
                                          <p:stCondLst>
                                            <p:cond delay="0"/>
                                          </p:stCondLst>
                                        </p:cTn>
                                        <p:tgtEl>
                                          <p:spTgt spid="126"/>
                                        </p:tgtEl>
                                        <p:attrNameLst>
                                          <p:attrName>style.visibility</p:attrName>
                                        </p:attrNameLst>
                                      </p:cBhvr>
                                      <p:to>
                                        <p:strVal val="visible"/>
                                      </p:to>
                                    </p:set>
                                    <p:animEffect transition="in" filter="fade">
                                      <p:cBhvr>
                                        <p:cTn id="26" dur="1000"/>
                                        <p:tgtEl>
                                          <p:spTgt spid="126"/>
                                        </p:tgtEl>
                                      </p:cBhvr>
                                    </p:animEffect>
                                  </p:childTnLst>
                                </p:cTn>
                              </p:par>
                              <p:par>
                                <p:cTn id="27" presetID="10" presetClass="entr" presetSubtype="0" fill="hold" nodeType="withEffect">
                                  <p:stCondLst>
                                    <p:cond delay="0"/>
                                  </p:stCondLst>
                                  <p:childTnLst>
                                    <p:set>
                                      <p:cBhvr>
                                        <p:cTn id="28" dur="1" fill="hold">
                                          <p:stCondLst>
                                            <p:cond delay="0"/>
                                          </p:stCondLst>
                                        </p:cTn>
                                        <p:tgtEl>
                                          <p:spTgt spid="125"/>
                                        </p:tgtEl>
                                        <p:attrNameLst>
                                          <p:attrName>style.visibility</p:attrName>
                                        </p:attrNameLst>
                                      </p:cBhvr>
                                      <p:to>
                                        <p:strVal val="visible"/>
                                      </p:to>
                                    </p:set>
                                    <p:animEffect transition="in" filter="fade">
                                      <p:cBhvr>
                                        <p:cTn id="29"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5"/>
          <p:cNvSpPr/>
          <p:nvPr/>
        </p:nvSpPr>
        <p:spPr>
          <a:xfrm>
            <a:off x="602615" y="1760855"/>
            <a:ext cx="6369685" cy="131762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ALTER statement is used to modify the structure of existing database objects. </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135" name="Google Shape;135;p5" descr="4952527"/>
          <p:cNvPicPr preferRelativeResize="0"/>
          <p:nvPr>
            <p:ph type="body" idx="1"/>
          </p:nvPr>
        </p:nvPicPr>
        <p:blipFill rotWithShape="1">
          <a:blip r:embed="rId1"/>
          <a:srcRect/>
          <a:stretch>
            <a:fillRect/>
          </a:stretch>
        </p:blipFill>
        <p:spPr>
          <a:xfrm>
            <a:off x="7266940" y="1553210"/>
            <a:ext cx="4351655" cy="5108575"/>
          </a:xfrm>
          <a:prstGeom prst="rect">
            <a:avLst/>
          </a:prstGeom>
          <a:noFill/>
          <a:ln>
            <a:noFill/>
          </a:ln>
        </p:spPr>
      </p:pic>
      <p:pic>
        <p:nvPicPr>
          <p:cNvPr id="136" name="Google Shape;136;p5"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37" name="Google Shape;137;p5"/>
          <p:cNvSpPr/>
          <p:nvPr/>
        </p:nvSpPr>
        <p:spPr>
          <a:xfrm>
            <a:off x="541020" y="43497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4000"/>
              <a:buFont typeface="Bell MT" panose="02020503060305020303"/>
              <a:buNone/>
            </a:pPr>
            <a:r>
              <a:rPr lang="en-US" sz="4000" b="1">
                <a:solidFill>
                  <a:srgbClr val="002060"/>
                </a:solidFill>
                <a:latin typeface="Bell MT" panose="02020503060305020303"/>
                <a:ea typeface="Bell MT" panose="02020503060305020303"/>
                <a:cs typeface="Bell MT" panose="02020503060305020303"/>
                <a:sym typeface="Bell MT" panose="02020503060305020303"/>
              </a:rPr>
              <a:t>2. Alter Statement:</a:t>
            </a:r>
            <a:endParaRPr sz="4000" b="1">
              <a:solidFill>
                <a:srgbClr val="002060"/>
              </a:solidFill>
              <a:latin typeface="Bell MT" panose="02020503060305020303"/>
              <a:ea typeface="Bell MT" panose="02020503060305020303"/>
              <a:cs typeface="Bell MT" panose="02020503060305020303"/>
              <a:sym typeface="Bell MT" panose="02020503060305020303"/>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5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pic>
        <p:nvPicPr>
          <p:cNvPr id="142" name="Google Shape;142;p6"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143" name="Google Shape;143;p6"/>
          <p:cNvSpPr txBox="1"/>
          <p:nvPr/>
        </p:nvSpPr>
        <p:spPr>
          <a:xfrm>
            <a:off x="869315" y="665480"/>
            <a:ext cx="383032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Bell MT" panose="02020503060305020303"/>
                <a:ea typeface="Bell MT" panose="02020503060305020303"/>
                <a:cs typeface="Bell MT" panose="02020503060305020303"/>
                <a:sym typeface="Bell MT" panose="02020503060305020303"/>
              </a:rPr>
              <a:t>a) ALTER Table:</a:t>
            </a:r>
            <a:endParaRPr sz="2000" b="1">
              <a:solidFill>
                <a:schemeClr val="dk1"/>
              </a:solidFill>
              <a:latin typeface="Bell MT" panose="02020503060305020303"/>
              <a:ea typeface="Bell MT" panose="02020503060305020303"/>
              <a:cs typeface="Bell MT" panose="02020503060305020303"/>
              <a:sym typeface="Bell MT" panose="02020503060305020303"/>
            </a:endParaRPr>
          </a:p>
          <a:p>
            <a:pPr marL="0" marR="0" lvl="0" indent="0" algn="l" rtl="0">
              <a:spcBef>
                <a:spcPts val="0"/>
              </a:spcBef>
              <a:spcAft>
                <a:spcPts val="0"/>
              </a:spcAft>
              <a:buNone/>
            </a:pPr>
            <a:endParaRPr sz="2000" b="1">
              <a:solidFill>
                <a:schemeClr val="dk1"/>
              </a:solidFill>
              <a:latin typeface="Bell MT" panose="02020503060305020303"/>
              <a:ea typeface="Bell MT" panose="02020503060305020303"/>
              <a:cs typeface="Bell MT" panose="02020503060305020303"/>
              <a:sym typeface="Bell MT" panose="02020503060305020303"/>
            </a:endParaRPr>
          </a:p>
        </p:txBody>
      </p:sp>
      <p:pic>
        <p:nvPicPr>
          <p:cNvPr id="144" name="Google Shape;144;p6" descr="computer"/>
          <p:cNvPicPr preferRelativeResize="0"/>
          <p:nvPr>
            <p:ph type="body" idx="1"/>
          </p:nvPr>
        </p:nvPicPr>
        <p:blipFill rotWithShape="1">
          <a:blip r:embed="rId2"/>
          <a:srcRect/>
          <a:stretch>
            <a:fillRect/>
          </a:stretch>
        </p:blipFill>
        <p:spPr>
          <a:xfrm>
            <a:off x="365125" y="3938270"/>
            <a:ext cx="5824855" cy="2258060"/>
          </a:xfrm>
          <a:prstGeom prst="rect">
            <a:avLst/>
          </a:prstGeom>
          <a:noFill/>
          <a:ln>
            <a:noFill/>
          </a:ln>
        </p:spPr>
      </p:pic>
      <p:sp>
        <p:nvSpPr>
          <p:cNvPr id="145" name="Google Shape;145;p6"/>
          <p:cNvSpPr txBox="1"/>
          <p:nvPr/>
        </p:nvSpPr>
        <p:spPr>
          <a:xfrm>
            <a:off x="1640840" y="4490085"/>
            <a:ext cx="327342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ALTER TABLE table_name</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ADD column_name datatype;</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46" name="Google Shape;146;p6"/>
          <p:cNvSpPr txBox="1"/>
          <p:nvPr/>
        </p:nvSpPr>
        <p:spPr>
          <a:xfrm>
            <a:off x="7768590" y="3508375"/>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pic>
        <p:nvPicPr>
          <p:cNvPr id="147" name="Google Shape;147;p6" descr="computer"/>
          <p:cNvPicPr preferRelativeResize="0"/>
          <p:nvPr/>
        </p:nvPicPr>
        <p:blipFill rotWithShape="1">
          <a:blip r:embed="rId2"/>
          <a:srcRect/>
          <a:stretch>
            <a:fillRect/>
          </a:stretch>
        </p:blipFill>
        <p:spPr>
          <a:xfrm>
            <a:off x="6676390" y="3862705"/>
            <a:ext cx="5824855" cy="2515870"/>
          </a:xfrm>
          <a:prstGeom prst="rect">
            <a:avLst/>
          </a:prstGeom>
          <a:noFill/>
          <a:ln>
            <a:noFill/>
          </a:ln>
        </p:spPr>
      </p:pic>
      <p:sp>
        <p:nvSpPr>
          <p:cNvPr id="148" name="Google Shape;148;p6"/>
          <p:cNvSpPr txBox="1"/>
          <p:nvPr/>
        </p:nvSpPr>
        <p:spPr>
          <a:xfrm>
            <a:off x="7952105" y="4602480"/>
            <a:ext cx="327342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ALTER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ADD salary INT;</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49" name="Google Shape;149;p6"/>
          <p:cNvSpPr txBox="1"/>
          <p:nvPr/>
        </p:nvSpPr>
        <p:spPr>
          <a:xfrm>
            <a:off x="1436370" y="3699510"/>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0" name="Google Shape;150;p6"/>
          <p:cNvSpPr/>
          <p:nvPr/>
        </p:nvSpPr>
        <p:spPr>
          <a:xfrm>
            <a:off x="931545" y="1504315"/>
            <a:ext cx="6369685" cy="188468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ALTER statement is used to modify the structure of existing database objects. It can be used to add or drop columns, modify data types, rename objects, or add constraints.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10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500"/>
                                        <p:tgtEl>
                                          <p:spTgt spid="144"/>
                                        </p:tgtEl>
                                      </p:cBhvr>
                                    </p:animEffect>
                                  </p:childTnLst>
                                </p:cTn>
                              </p:par>
                              <p:par>
                                <p:cTn id="13" presetID="10" presetClass="entr" presetSubtype="0" fill="hold" nodeType="withEffect">
                                  <p:stCondLst>
                                    <p:cond delay="0"/>
                                  </p:stCondLst>
                                  <p:childTnLst>
                                    <p:set>
                                      <p:cBhvr>
                                        <p:cTn id="14" dur="1" fill="hold">
                                          <p:stCondLst>
                                            <p:cond delay="0"/>
                                          </p:stCondLst>
                                        </p:cTn>
                                        <p:tgtEl>
                                          <p:spTgt spid="145"/>
                                        </p:tgtEl>
                                        <p:attrNameLst>
                                          <p:attrName>style.visibility</p:attrName>
                                        </p:attrNameLst>
                                      </p:cBhvr>
                                      <p:to>
                                        <p:strVal val="visible"/>
                                      </p:to>
                                    </p:set>
                                    <p:animEffect transition="in" filter="fade">
                                      <p:cBhvr>
                                        <p:cTn id="15" dur="500"/>
                                        <p:tgtEl>
                                          <p:spTgt spid="145"/>
                                        </p:tgtEl>
                                      </p:cBhvr>
                                    </p:animEffect>
                                  </p:childTnLst>
                                </p:cTn>
                              </p:par>
                              <p:par>
                                <p:cTn id="16" presetID="10" presetClass="entr" presetSubtype="0" fill="hold" nodeType="withEffect">
                                  <p:stCondLst>
                                    <p:cond delay="0"/>
                                  </p:stCondLst>
                                  <p:childTnLst>
                                    <p:set>
                                      <p:cBhvr>
                                        <p:cTn id="17" dur="1" fill="hold">
                                          <p:stCondLst>
                                            <p:cond delay="0"/>
                                          </p:stCondLst>
                                        </p:cTn>
                                        <p:tgtEl>
                                          <p:spTgt spid="149"/>
                                        </p:tgtEl>
                                        <p:attrNameLst>
                                          <p:attrName>style.visibility</p:attrName>
                                        </p:attrNameLst>
                                      </p:cBhvr>
                                      <p:to>
                                        <p:strVal val="visible"/>
                                      </p:to>
                                    </p:set>
                                    <p:animEffect transition="in" filter="fade">
                                      <p:cBhvr>
                                        <p:cTn id="18" dur="500"/>
                                        <p:tgtEl>
                                          <p:spTgt spid="14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fade">
                                      <p:cBhvr>
                                        <p:cTn id="23" dur="500"/>
                                        <p:tgtEl>
                                          <p:spTgt spid="146"/>
                                        </p:tgtEl>
                                      </p:cBhvr>
                                    </p:animEffect>
                                  </p:childTnLst>
                                </p:cTn>
                              </p:par>
                              <p:par>
                                <p:cTn id="24" presetID="10" presetClass="entr" presetSubtype="0" fill="hold" nodeType="withEffect">
                                  <p:stCondLst>
                                    <p:cond delay="0"/>
                                  </p:stCondLst>
                                  <p:childTnLst>
                                    <p:set>
                                      <p:cBhvr>
                                        <p:cTn id="25" dur="1" fill="hold">
                                          <p:stCondLst>
                                            <p:cond delay="0"/>
                                          </p:stCondLst>
                                        </p:cTn>
                                        <p:tgtEl>
                                          <p:spTgt spid="147"/>
                                        </p:tgtEl>
                                        <p:attrNameLst>
                                          <p:attrName>style.visibility</p:attrName>
                                        </p:attrNameLst>
                                      </p:cBhvr>
                                      <p:to>
                                        <p:strVal val="visible"/>
                                      </p:to>
                                    </p:set>
                                    <p:animEffect transition="in" filter="fade">
                                      <p:cBhvr>
                                        <p:cTn id="26" dur="500"/>
                                        <p:tgtEl>
                                          <p:spTgt spid="147"/>
                                        </p:tgtEl>
                                      </p:cBhvr>
                                    </p:animEffect>
                                  </p:childTnLst>
                                </p:cTn>
                              </p:par>
                              <p:par>
                                <p:cTn id="27" presetID="10" presetClass="entr" presetSubtype="0" fill="hold" nodeType="withEffect">
                                  <p:stCondLst>
                                    <p:cond delay="0"/>
                                  </p:stCondLst>
                                  <p:childTnLst>
                                    <p:set>
                                      <p:cBhvr>
                                        <p:cTn id="28" dur="1" fill="hold">
                                          <p:stCondLst>
                                            <p:cond delay="0"/>
                                          </p:stCondLst>
                                        </p:cTn>
                                        <p:tgtEl>
                                          <p:spTgt spid="148"/>
                                        </p:tgtEl>
                                        <p:attrNameLst>
                                          <p:attrName>style.visibility</p:attrName>
                                        </p:attrNameLst>
                                      </p:cBhvr>
                                      <p:to>
                                        <p:strVal val="visible"/>
                                      </p:to>
                                    </p:set>
                                    <p:animEffect transition="in" filter="fade">
                                      <p:cBhvr>
                                        <p:cTn id="29"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7"/>
          <p:cNvSpPr/>
          <p:nvPr/>
        </p:nvSpPr>
        <p:spPr>
          <a:xfrm>
            <a:off x="602615" y="1760855"/>
            <a:ext cx="6369685" cy="131762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DROP statement is used to delete database objects from the database. Here are some common uses: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156" name="Google Shape;156;p7" descr="4952527"/>
          <p:cNvPicPr preferRelativeResize="0"/>
          <p:nvPr>
            <p:ph type="body" idx="1"/>
          </p:nvPr>
        </p:nvPicPr>
        <p:blipFill rotWithShape="1">
          <a:blip r:embed="rId1"/>
          <a:srcRect/>
          <a:stretch>
            <a:fillRect/>
          </a:stretch>
        </p:blipFill>
        <p:spPr>
          <a:xfrm>
            <a:off x="7266940" y="1553210"/>
            <a:ext cx="4351655" cy="5108575"/>
          </a:xfrm>
          <a:prstGeom prst="rect">
            <a:avLst/>
          </a:prstGeom>
          <a:noFill/>
          <a:ln>
            <a:noFill/>
          </a:ln>
        </p:spPr>
      </p:pic>
      <p:pic>
        <p:nvPicPr>
          <p:cNvPr id="157" name="Google Shape;157;p7"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58" name="Google Shape;158;p7"/>
          <p:cNvSpPr/>
          <p:nvPr/>
        </p:nvSpPr>
        <p:spPr>
          <a:xfrm>
            <a:off x="541020" y="43497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4000"/>
              <a:buFont typeface="Bell MT" panose="02020503060305020303"/>
              <a:buNone/>
            </a:pPr>
            <a:r>
              <a:rPr lang="en-US" sz="4000" b="1">
                <a:solidFill>
                  <a:srgbClr val="002060"/>
                </a:solidFill>
                <a:latin typeface="Bell MT" panose="02020503060305020303"/>
                <a:ea typeface="Bell MT" panose="02020503060305020303"/>
                <a:cs typeface="Bell MT" panose="02020503060305020303"/>
                <a:sym typeface="Bell MT" panose="02020503060305020303"/>
              </a:rPr>
              <a:t>3. Drop Statement:</a:t>
            </a:r>
            <a:endParaRPr sz="4000" b="1">
              <a:solidFill>
                <a:srgbClr val="002060"/>
              </a:solidFill>
              <a:latin typeface="Bell MT" panose="02020503060305020303"/>
              <a:ea typeface="Bell MT" panose="02020503060305020303"/>
              <a:cs typeface="Bell MT" panose="02020503060305020303"/>
              <a:sym typeface="Bell MT" panose="02020503060305020303"/>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pic>
        <p:nvPicPr>
          <p:cNvPr id="163" name="Google Shape;163;p8"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164" name="Google Shape;164;p8"/>
          <p:cNvSpPr txBox="1"/>
          <p:nvPr/>
        </p:nvSpPr>
        <p:spPr>
          <a:xfrm>
            <a:off x="869315" y="665480"/>
            <a:ext cx="383032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Bell MT" panose="02020503060305020303"/>
                <a:ea typeface="Bell MT" panose="02020503060305020303"/>
                <a:cs typeface="Bell MT" panose="02020503060305020303"/>
                <a:sym typeface="Bell MT" panose="02020503060305020303"/>
              </a:rPr>
              <a:t>a) DROP Table:</a:t>
            </a:r>
            <a:endParaRPr sz="2000" b="1">
              <a:solidFill>
                <a:schemeClr val="dk1"/>
              </a:solidFill>
              <a:latin typeface="Bell MT" panose="02020503060305020303"/>
              <a:ea typeface="Bell MT" panose="02020503060305020303"/>
              <a:cs typeface="Bell MT" panose="02020503060305020303"/>
              <a:sym typeface="Bell MT" panose="02020503060305020303"/>
            </a:endParaRPr>
          </a:p>
          <a:p>
            <a:pPr marL="0" marR="0" lvl="0" indent="0" algn="l" rtl="0">
              <a:spcBef>
                <a:spcPts val="0"/>
              </a:spcBef>
              <a:spcAft>
                <a:spcPts val="0"/>
              </a:spcAft>
              <a:buNone/>
            </a:pPr>
            <a:endParaRPr sz="2000" b="1">
              <a:solidFill>
                <a:schemeClr val="dk1"/>
              </a:solidFill>
              <a:latin typeface="Bell MT" panose="02020503060305020303"/>
              <a:ea typeface="Bell MT" panose="02020503060305020303"/>
              <a:cs typeface="Bell MT" panose="02020503060305020303"/>
              <a:sym typeface="Bell MT" panose="02020503060305020303"/>
            </a:endParaRPr>
          </a:p>
        </p:txBody>
      </p:sp>
      <p:pic>
        <p:nvPicPr>
          <p:cNvPr id="165" name="Google Shape;165;p8" descr="computer"/>
          <p:cNvPicPr preferRelativeResize="0"/>
          <p:nvPr>
            <p:ph type="body" idx="1"/>
          </p:nvPr>
        </p:nvPicPr>
        <p:blipFill rotWithShape="1">
          <a:blip r:embed="rId2"/>
          <a:srcRect/>
          <a:stretch>
            <a:fillRect/>
          </a:stretch>
        </p:blipFill>
        <p:spPr>
          <a:xfrm>
            <a:off x="251460" y="3670300"/>
            <a:ext cx="5824855" cy="2258060"/>
          </a:xfrm>
          <a:prstGeom prst="rect">
            <a:avLst/>
          </a:prstGeom>
          <a:noFill/>
          <a:ln>
            <a:noFill/>
          </a:ln>
        </p:spPr>
      </p:pic>
      <p:sp>
        <p:nvSpPr>
          <p:cNvPr id="166" name="Google Shape;166;p8"/>
          <p:cNvSpPr txBox="1"/>
          <p:nvPr/>
        </p:nvSpPr>
        <p:spPr>
          <a:xfrm>
            <a:off x="1599565" y="4375150"/>
            <a:ext cx="3273425" cy="2755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DROP TABLE table_name;</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67" name="Google Shape;167;p8"/>
          <p:cNvSpPr txBox="1"/>
          <p:nvPr/>
        </p:nvSpPr>
        <p:spPr>
          <a:xfrm>
            <a:off x="7324725" y="3456940"/>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pic>
        <p:nvPicPr>
          <p:cNvPr id="168" name="Google Shape;168;p8" descr="computer"/>
          <p:cNvPicPr preferRelativeResize="0"/>
          <p:nvPr/>
        </p:nvPicPr>
        <p:blipFill rotWithShape="1">
          <a:blip r:embed="rId2"/>
          <a:srcRect/>
          <a:stretch>
            <a:fillRect/>
          </a:stretch>
        </p:blipFill>
        <p:spPr>
          <a:xfrm>
            <a:off x="6367145" y="3886835"/>
            <a:ext cx="5824855" cy="2330450"/>
          </a:xfrm>
          <a:prstGeom prst="rect">
            <a:avLst/>
          </a:prstGeom>
          <a:noFill/>
          <a:ln>
            <a:noFill/>
          </a:ln>
        </p:spPr>
      </p:pic>
      <p:sp>
        <p:nvSpPr>
          <p:cNvPr id="169" name="Google Shape;169;p8"/>
          <p:cNvSpPr txBox="1"/>
          <p:nvPr/>
        </p:nvSpPr>
        <p:spPr>
          <a:xfrm>
            <a:off x="7642860" y="4551045"/>
            <a:ext cx="3273425" cy="2755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DROP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70" name="Google Shape;170;p8"/>
          <p:cNvSpPr txBox="1"/>
          <p:nvPr/>
        </p:nvSpPr>
        <p:spPr>
          <a:xfrm>
            <a:off x="1281430" y="3462655"/>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1" name="Google Shape;171;p8"/>
          <p:cNvSpPr/>
          <p:nvPr/>
        </p:nvSpPr>
        <p:spPr>
          <a:xfrm>
            <a:off x="797560" y="1504315"/>
            <a:ext cx="6369685" cy="143129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DROP TABLE: This statement is used to delete an entire table from the database. The syntax is as follows: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10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5"/>
                                        </p:tgtEl>
                                        <p:attrNameLst>
                                          <p:attrName>style.visibility</p:attrName>
                                        </p:attrNameLst>
                                      </p:cBhvr>
                                      <p:to>
                                        <p:strVal val="visible"/>
                                      </p:to>
                                    </p:set>
                                    <p:animEffect transition="in" filter="fade">
                                      <p:cBhvr>
                                        <p:cTn id="12" dur="500"/>
                                        <p:tgtEl>
                                          <p:spTgt spid="165"/>
                                        </p:tgtEl>
                                      </p:cBhvr>
                                    </p:animEffect>
                                  </p:childTnLst>
                                </p:cTn>
                              </p:par>
                              <p:par>
                                <p:cTn id="13" presetID="10" presetClass="entr" presetSubtype="0" fill="hold" nodeType="withEffect">
                                  <p:stCondLst>
                                    <p:cond delay="0"/>
                                  </p:stCondLst>
                                  <p:childTnLst>
                                    <p:set>
                                      <p:cBhvr>
                                        <p:cTn id="14" dur="1" fill="hold">
                                          <p:stCondLst>
                                            <p:cond delay="0"/>
                                          </p:stCondLst>
                                        </p:cTn>
                                        <p:tgtEl>
                                          <p:spTgt spid="170"/>
                                        </p:tgtEl>
                                        <p:attrNameLst>
                                          <p:attrName>style.visibility</p:attrName>
                                        </p:attrNameLst>
                                      </p:cBhvr>
                                      <p:to>
                                        <p:strVal val="visible"/>
                                      </p:to>
                                    </p:set>
                                    <p:animEffect transition="in" filter="fade">
                                      <p:cBhvr>
                                        <p:cTn id="15" dur="500"/>
                                        <p:tgtEl>
                                          <p:spTgt spid="170"/>
                                        </p:tgtEl>
                                      </p:cBhvr>
                                    </p:animEffect>
                                  </p:childTnLst>
                                </p:cTn>
                              </p:par>
                              <p:par>
                                <p:cTn id="16" presetID="10" presetClass="entr" presetSubtype="0" fill="hold" nodeType="withEffect">
                                  <p:stCondLst>
                                    <p:cond delay="0"/>
                                  </p:stCondLst>
                                  <p:childTnLst>
                                    <p:set>
                                      <p:cBhvr>
                                        <p:cTn id="17" dur="1" fill="hold">
                                          <p:stCondLst>
                                            <p:cond delay="0"/>
                                          </p:stCondLst>
                                        </p:cTn>
                                        <p:tgtEl>
                                          <p:spTgt spid="166"/>
                                        </p:tgtEl>
                                        <p:attrNameLst>
                                          <p:attrName>style.visibility</p:attrName>
                                        </p:attrNameLst>
                                      </p:cBhvr>
                                      <p:to>
                                        <p:strVal val="visible"/>
                                      </p:to>
                                    </p:set>
                                    <p:animEffect transition="in" filter="fade">
                                      <p:cBhvr>
                                        <p:cTn id="18" dur="500"/>
                                        <p:tgtEl>
                                          <p:spTgt spid="16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7"/>
                                        </p:tgtEl>
                                        <p:attrNameLst>
                                          <p:attrName>style.visibility</p:attrName>
                                        </p:attrNameLst>
                                      </p:cBhvr>
                                      <p:to>
                                        <p:strVal val="visible"/>
                                      </p:to>
                                    </p:set>
                                    <p:animEffect transition="in" filter="fade">
                                      <p:cBhvr>
                                        <p:cTn id="23" dur="500"/>
                                        <p:tgtEl>
                                          <p:spTgt spid="167"/>
                                        </p:tgtEl>
                                      </p:cBhvr>
                                    </p:animEffect>
                                  </p:childTnLst>
                                </p:cTn>
                              </p:par>
                              <p:par>
                                <p:cTn id="24" presetID="10" presetClass="entr" presetSubtype="0" fill="hold" nodeType="withEffect">
                                  <p:stCondLst>
                                    <p:cond delay="0"/>
                                  </p:stCondLst>
                                  <p:childTnLst>
                                    <p:set>
                                      <p:cBhvr>
                                        <p:cTn id="25" dur="1" fill="hold">
                                          <p:stCondLst>
                                            <p:cond delay="0"/>
                                          </p:stCondLst>
                                        </p:cTn>
                                        <p:tgtEl>
                                          <p:spTgt spid="168"/>
                                        </p:tgtEl>
                                        <p:attrNameLst>
                                          <p:attrName>style.visibility</p:attrName>
                                        </p:attrNameLst>
                                      </p:cBhvr>
                                      <p:to>
                                        <p:strVal val="visible"/>
                                      </p:to>
                                    </p:set>
                                    <p:animEffect transition="in" filter="fade">
                                      <p:cBhvr>
                                        <p:cTn id="26" dur="500"/>
                                        <p:tgtEl>
                                          <p:spTgt spid="168"/>
                                        </p:tgtEl>
                                      </p:cBhvr>
                                    </p:animEffect>
                                  </p:childTnLst>
                                </p:cTn>
                              </p:par>
                              <p:par>
                                <p:cTn id="27" presetID="10" presetClass="entr" presetSubtype="0" fill="hold" nodeType="withEffect">
                                  <p:stCondLst>
                                    <p:cond delay="0"/>
                                  </p:stCondLst>
                                  <p:childTnLst>
                                    <p:set>
                                      <p:cBhvr>
                                        <p:cTn id="28" dur="1" fill="hold">
                                          <p:stCondLst>
                                            <p:cond delay="0"/>
                                          </p:stCondLst>
                                        </p:cTn>
                                        <p:tgtEl>
                                          <p:spTgt spid="169"/>
                                        </p:tgtEl>
                                        <p:attrNameLst>
                                          <p:attrName>style.visibility</p:attrName>
                                        </p:attrNameLst>
                                      </p:cBhvr>
                                      <p:to>
                                        <p:strVal val="visible"/>
                                      </p:to>
                                    </p:set>
                                    <p:animEffect transition="in" filter="fade">
                                      <p:cBhvr>
                                        <p:cTn id="29" dur="5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pic>
        <p:nvPicPr>
          <p:cNvPr id="176" name="Google Shape;176;p9" descr="4952527"/>
          <p:cNvPicPr preferRelativeResize="0"/>
          <p:nvPr>
            <p:ph type="body" idx="1"/>
          </p:nvPr>
        </p:nvPicPr>
        <p:blipFill rotWithShape="1">
          <a:blip r:embed="rId1"/>
          <a:srcRect/>
          <a:stretch>
            <a:fillRect/>
          </a:stretch>
        </p:blipFill>
        <p:spPr>
          <a:xfrm>
            <a:off x="7266940" y="1553210"/>
            <a:ext cx="4351655" cy="5108575"/>
          </a:xfrm>
          <a:prstGeom prst="rect">
            <a:avLst/>
          </a:prstGeom>
          <a:noFill/>
          <a:ln>
            <a:noFill/>
          </a:ln>
        </p:spPr>
      </p:pic>
      <p:pic>
        <p:nvPicPr>
          <p:cNvPr id="177" name="Google Shape;177;p9"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78" name="Google Shape;178;p9"/>
          <p:cNvSpPr/>
          <p:nvPr/>
        </p:nvSpPr>
        <p:spPr>
          <a:xfrm>
            <a:off x="541020" y="43497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4000"/>
              <a:buFont typeface="Bell MT" panose="02020503060305020303"/>
              <a:buNone/>
            </a:pPr>
            <a:r>
              <a:rPr lang="en-US" sz="4000" b="1">
                <a:solidFill>
                  <a:srgbClr val="002060"/>
                </a:solidFill>
                <a:latin typeface="Bell MT" panose="02020503060305020303"/>
                <a:ea typeface="Bell MT" panose="02020503060305020303"/>
                <a:cs typeface="Bell MT" panose="02020503060305020303"/>
                <a:sym typeface="Bell MT" panose="02020503060305020303"/>
              </a:rPr>
              <a:t>4. RENAME Statement:</a:t>
            </a:r>
            <a:endParaRPr sz="4000" b="1">
              <a:solidFill>
                <a:srgbClr val="002060"/>
              </a:solidFill>
              <a:latin typeface="Bell MT" panose="02020503060305020303"/>
              <a:ea typeface="Bell MT" panose="02020503060305020303"/>
              <a:cs typeface="Bell MT" panose="02020503060305020303"/>
              <a:sym typeface="Bell MT" panose="02020503060305020303"/>
            </a:endParaRPr>
          </a:p>
        </p:txBody>
      </p:sp>
      <p:sp>
        <p:nvSpPr>
          <p:cNvPr id="179" name="Google Shape;179;p9"/>
          <p:cNvSpPr/>
          <p:nvPr/>
        </p:nvSpPr>
        <p:spPr>
          <a:xfrm>
            <a:off x="797560" y="1905000"/>
            <a:ext cx="6369685" cy="117284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RENAME statement is used to rename database objects.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
                                        </p:tgtEl>
                                        <p:attrNameLst>
                                          <p:attrName>style.visibility</p:attrName>
                                        </p:attrNameLst>
                                      </p:cBhvr>
                                      <p:to>
                                        <p:strVal val="visible"/>
                                      </p:to>
                                    </p:set>
                                    <p:animEffect transition="in" filter="fade">
                                      <p:cBhvr>
                                        <p:cTn id="12"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pic>
        <p:nvPicPr>
          <p:cNvPr id="184" name="Google Shape;184;p10"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185" name="Google Shape;185;p10"/>
          <p:cNvSpPr txBox="1"/>
          <p:nvPr/>
        </p:nvSpPr>
        <p:spPr>
          <a:xfrm>
            <a:off x="745490" y="665480"/>
            <a:ext cx="383032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Bell MT" panose="02020503060305020303"/>
                <a:ea typeface="Bell MT" panose="02020503060305020303"/>
                <a:cs typeface="Bell MT" panose="02020503060305020303"/>
                <a:sym typeface="Bell MT" panose="02020503060305020303"/>
              </a:rPr>
              <a:t>a) RENAME Table:</a:t>
            </a:r>
            <a:endParaRPr sz="2000" b="1">
              <a:solidFill>
                <a:schemeClr val="dk1"/>
              </a:solidFill>
              <a:latin typeface="Bell MT" panose="02020503060305020303"/>
              <a:ea typeface="Bell MT" panose="02020503060305020303"/>
              <a:cs typeface="Bell MT" panose="02020503060305020303"/>
              <a:sym typeface="Bell MT" panose="02020503060305020303"/>
            </a:endParaRPr>
          </a:p>
          <a:p>
            <a:pPr marL="0" marR="0" lvl="0" indent="0" algn="l" rtl="0">
              <a:spcBef>
                <a:spcPts val="0"/>
              </a:spcBef>
              <a:spcAft>
                <a:spcPts val="0"/>
              </a:spcAft>
              <a:buNone/>
            </a:pPr>
            <a:endParaRPr sz="2000" b="1">
              <a:solidFill>
                <a:schemeClr val="dk1"/>
              </a:solidFill>
              <a:latin typeface="Bell MT" panose="02020503060305020303"/>
              <a:ea typeface="Bell MT" panose="02020503060305020303"/>
              <a:cs typeface="Bell MT" panose="02020503060305020303"/>
              <a:sym typeface="Bell MT" panose="02020503060305020303"/>
            </a:endParaRPr>
          </a:p>
        </p:txBody>
      </p:sp>
      <p:pic>
        <p:nvPicPr>
          <p:cNvPr id="186" name="Google Shape;186;p10" descr="computer"/>
          <p:cNvPicPr preferRelativeResize="0"/>
          <p:nvPr>
            <p:ph type="body" idx="1"/>
          </p:nvPr>
        </p:nvPicPr>
        <p:blipFill rotWithShape="1">
          <a:blip r:embed="rId2"/>
          <a:srcRect/>
          <a:stretch>
            <a:fillRect/>
          </a:stretch>
        </p:blipFill>
        <p:spPr>
          <a:xfrm>
            <a:off x="-208915" y="3318510"/>
            <a:ext cx="5824855" cy="2258060"/>
          </a:xfrm>
          <a:prstGeom prst="rect">
            <a:avLst/>
          </a:prstGeom>
          <a:noFill/>
          <a:ln>
            <a:noFill/>
          </a:ln>
        </p:spPr>
      </p:pic>
      <p:sp>
        <p:nvSpPr>
          <p:cNvPr id="187" name="Google Shape;187;p10"/>
          <p:cNvSpPr txBox="1"/>
          <p:nvPr/>
        </p:nvSpPr>
        <p:spPr>
          <a:xfrm>
            <a:off x="1139190" y="4013200"/>
            <a:ext cx="327342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EXEC sp_rename 'old_table_name', 'new_table_name'  </a:t>
            </a:r>
            <a:endParaRPr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188" name="Google Shape;188;p10" descr="computer"/>
          <p:cNvPicPr preferRelativeResize="0"/>
          <p:nvPr/>
        </p:nvPicPr>
        <p:blipFill rotWithShape="1">
          <a:blip r:embed="rId2"/>
          <a:srcRect/>
          <a:stretch>
            <a:fillRect/>
          </a:stretch>
        </p:blipFill>
        <p:spPr>
          <a:xfrm>
            <a:off x="6724650" y="3189605"/>
            <a:ext cx="5824855" cy="2515870"/>
          </a:xfrm>
          <a:prstGeom prst="rect">
            <a:avLst/>
          </a:prstGeom>
          <a:noFill/>
          <a:ln>
            <a:noFill/>
          </a:ln>
        </p:spPr>
      </p:pic>
      <p:sp>
        <p:nvSpPr>
          <p:cNvPr id="189" name="Google Shape;189;p10"/>
          <p:cNvSpPr txBox="1"/>
          <p:nvPr/>
        </p:nvSpPr>
        <p:spPr>
          <a:xfrm>
            <a:off x="8246745" y="4013200"/>
            <a:ext cx="327342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EXEC sp_rename 'JobSeeker', 'Jobseekers'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190" name="Google Shape;190;p10"/>
          <p:cNvSpPr txBox="1"/>
          <p:nvPr/>
        </p:nvSpPr>
        <p:spPr>
          <a:xfrm>
            <a:off x="821055" y="3100705"/>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1" name="Google Shape;191;p10"/>
          <p:cNvSpPr/>
          <p:nvPr/>
        </p:nvSpPr>
        <p:spPr>
          <a:xfrm>
            <a:off x="745490" y="1504315"/>
            <a:ext cx="6369685" cy="109156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800">
                <a:solidFill>
                  <a:schemeClr val="lt1"/>
                </a:solidFill>
                <a:latin typeface="Comic Sans MS" panose="030F0702030302020204"/>
                <a:ea typeface="Comic Sans MS" panose="030F0702030302020204"/>
                <a:cs typeface="Comic Sans MS" panose="030F0702030302020204"/>
                <a:sym typeface="Comic Sans MS" panose="030F0702030302020204"/>
              </a:rPr>
              <a:t>This syntax renames an existing table.</a:t>
            </a:r>
            <a:endParaRPr sz="18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192" name="Google Shape;192;p10"/>
          <p:cNvSpPr txBox="1"/>
          <p:nvPr/>
        </p:nvSpPr>
        <p:spPr>
          <a:xfrm>
            <a:off x="7847965" y="2888615"/>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1000"/>
                                        <p:tgtEl>
                                          <p:spTgt spid="1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gtEl>
                                        <p:attrNameLst>
                                          <p:attrName>style.visibility</p:attrName>
                                        </p:attrNameLst>
                                      </p:cBhvr>
                                      <p:to>
                                        <p:strVal val="visible"/>
                                      </p:to>
                                    </p:set>
                                    <p:animEffect transition="in" filter="fade">
                                      <p:cBhvr>
                                        <p:cTn id="12" dur="500"/>
                                        <p:tgtEl>
                                          <p:spTgt spid="186"/>
                                        </p:tgtEl>
                                      </p:cBhvr>
                                    </p:animEffect>
                                  </p:childTnLst>
                                </p:cTn>
                              </p:par>
                              <p:par>
                                <p:cTn id="13" presetID="10" presetClass="entr" presetSubtype="0" fill="hold" nodeType="withEffect">
                                  <p:stCondLst>
                                    <p:cond delay="0"/>
                                  </p:stCondLst>
                                  <p:childTnLst>
                                    <p:set>
                                      <p:cBhvr>
                                        <p:cTn id="14" dur="1" fill="hold">
                                          <p:stCondLst>
                                            <p:cond delay="0"/>
                                          </p:stCondLst>
                                        </p:cTn>
                                        <p:tgtEl>
                                          <p:spTgt spid="187"/>
                                        </p:tgtEl>
                                        <p:attrNameLst>
                                          <p:attrName>style.visibility</p:attrName>
                                        </p:attrNameLst>
                                      </p:cBhvr>
                                      <p:to>
                                        <p:strVal val="visible"/>
                                      </p:to>
                                    </p:set>
                                    <p:animEffect transition="in" filter="fade">
                                      <p:cBhvr>
                                        <p:cTn id="15" dur="500"/>
                                        <p:tgtEl>
                                          <p:spTgt spid="187"/>
                                        </p:tgtEl>
                                      </p:cBhvr>
                                    </p:animEffect>
                                  </p:childTnLst>
                                </p:cTn>
                              </p:par>
                              <p:par>
                                <p:cTn id="16" presetID="10" presetClass="entr" presetSubtype="0" fill="hold" nodeType="withEffect">
                                  <p:stCondLst>
                                    <p:cond delay="0"/>
                                  </p:stCondLst>
                                  <p:childTnLst>
                                    <p:set>
                                      <p:cBhvr>
                                        <p:cTn id="17" dur="1" fill="hold">
                                          <p:stCondLst>
                                            <p:cond delay="0"/>
                                          </p:stCondLst>
                                        </p:cTn>
                                        <p:tgtEl>
                                          <p:spTgt spid="190"/>
                                        </p:tgtEl>
                                        <p:attrNameLst>
                                          <p:attrName>style.visibility</p:attrName>
                                        </p:attrNameLst>
                                      </p:cBhvr>
                                      <p:to>
                                        <p:strVal val="visible"/>
                                      </p:to>
                                    </p:set>
                                    <p:animEffect transition="in" filter="fade">
                                      <p:cBhvr>
                                        <p:cTn id="18" dur="500"/>
                                        <p:tgtEl>
                                          <p:spTgt spid="19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2"/>
                                        </p:tgtEl>
                                        <p:attrNameLst>
                                          <p:attrName>style.visibility</p:attrName>
                                        </p:attrNameLst>
                                      </p:cBhvr>
                                      <p:to>
                                        <p:strVal val="visible"/>
                                      </p:to>
                                    </p:set>
                                    <p:animEffect transition="in" filter="fade">
                                      <p:cBhvr>
                                        <p:cTn id="23" dur="500"/>
                                        <p:tgtEl>
                                          <p:spTgt spid="192"/>
                                        </p:tgtEl>
                                      </p:cBhvr>
                                    </p:animEffect>
                                  </p:childTnLst>
                                </p:cTn>
                              </p:par>
                              <p:par>
                                <p:cTn id="24" presetID="10" presetClass="entr" presetSubtype="0" fill="hold" nodeType="withEffect">
                                  <p:stCondLst>
                                    <p:cond delay="0"/>
                                  </p:stCondLst>
                                  <p:childTnLst>
                                    <p:set>
                                      <p:cBhvr>
                                        <p:cTn id="25" dur="1" fill="hold">
                                          <p:stCondLst>
                                            <p:cond delay="0"/>
                                          </p:stCondLst>
                                        </p:cTn>
                                        <p:tgtEl>
                                          <p:spTgt spid="188"/>
                                        </p:tgtEl>
                                        <p:attrNameLst>
                                          <p:attrName>style.visibility</p:attrName>
                                        </p:attrNameLst>
                                      </p:cBhvr>
                                      <p:to>
                                        <p:strVal val="visible"/>
                                      </p:to>
                                    </p:set>
                                    <p:animEffect transition="in" filter="fade">
                                      <p:cBhvr>
                                        <p:cTn id="26" dur="500"/>
                                        <p:tgtEl>
                                          <p:spTgt spid="188"/>
                                        </p:tgtEl>
                                      </p:cBhvr>
                                    </p:animEffect>
                                  </p:childTnLst>
                                </p:cTn>
                              </p:par>
                              <p:par>
                                <p:cTn id="27" presetID="10" presetClass="entr" presetSubtype="0" fill="hold" nodeType="withEffect">
                                  <p:stCondLst>
                                    <p:cond delay="0"/>
                                  </p:stCondLst>
                                  <p:childTnLst>
                                    <p:set>
                                      <p:cBhvr>
                                        <p:cTn id="28" dur="1" fill="hold">
                                          <p:stCondLst>
                                            <p:cond delay="0"/>
                                          </p:stCondLst>
                                        </p:cTn>
                                        <p:tgtEl>
                                          <p:spTgt spid="189"/>
                                        </p:tgtEl>
                                        <p:attrNameLst>
                                          <p:attrName>style.visibility</p:attrName>
                                        </p:attrNameLst>
                                      </p:cBhvr>
                                      <p:to>
                                        <p:strVal val="visible"/>
                                      </p:to>
                                    </p:set>
                                    <p:animEffect transition="in" filter="fade">
                                      <p:cBhvr>
                                        <p:cTn id="29"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96" name="Shape 196"/>
        <p:cNvGrpSpPr/>
        <p:nvPr/>
      </p:nvGrpSpPr>
      <p:grpSpPr>
        <a:xfrm>
          <a:off x="0" y="0"/>
          <a:ext cx="0" cy="0"/>
          <a:chOff x="0" y="0"/>
          <a:chExt cx="0" cy="0"/>
        </a:xfrm>
      </p:grpSpPr>
      <p:pic>
        <p:nvPicPr>
          <p:cNvPr id="197" name="Google Shape;197;p11" descr="4952527"/>
          <p:cNvPicPr preferRelativeResize="0"/>
          <p:nvPr>
            <p:ph type="body" idx="1"/>
          </p:nvPr>
        </p:nvPicPr>
        <p:blipFill rotWithShape="1">
          <a:blip r:embed="rId1"/>
          <a:srcRect/>
          <a:stretch>
            <a:fillRect/>
          </a:stretch>
        </p:blipFill>
        <p:spPr>
          <a:xfrm>
            <a:off x="7266940" y="1553210"/>
            <a:ext cx="4351655" cy="5108575"/>
          </a:xfrm>
          <a:prstGeom prst="rect">
            <a:avLst/>
          </a:prstGeom>
          <a:noFill/>
          <a:ln>
            <a:noFill/>
          </a:ln>
        </p:spPr>
      </p:pic>
      <p:pic>
        <p:nvPicPr>
          <p:cNvPr id="198" name="Google Shape;198;p11"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99" name="Google Shape;199;p11"/>
          <p:cNvSpPr/>
          <p:nvPr/>
        </p:nvSpPr>
        <p:spPr>
          <a:xfrm>
            <a:off x="541020" y="43497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4000"/>
              <a:buFont typeface="Bell MT" panose="02020503060305020303"/>
              <a:buNone/>
            </a:pPr>
            <a:r>
              <a:rPr lang="en-US" sz="4000" b="1">
                <a:solidFill>
                  <a:srgbClr val="002060"/>
                </a:solidFill>
                <a:latin typeface="Bell MT" panose="02020503060305020303"/>
                <a:ea typeface="Bell MT" panose="02020503060305020303"/>
                <a:cs typeface="Bell MT" panose="02020503060305020303"/>
                <a:sym typeface="Bell MT" panose="02020503060305020303"/>
              </a:rPr>
              <a:t>CONSTRAINTS</a:t>
            </a:r>
            <a:endParaRPr sz="4000" b="1">
              <a:solidFill>
                <a:srgbClr val="002060"/>
              </a:solidFill>
              <a:latin typeface="Bell MT" panose="02020503060305020303"/>
              <a:ea typeface="Bell MT" panose="02020503060305020303"/>
              <a:cs typeface="Bell MT" panose="02020503060305020303"/>
              <a:sym typeface="Bell MT" panose="02020503060305020303"/>
            </a:endParaRPr>
          </a:p>
        </p:txBody>
      </p:sp>
      <p:sp>
        <p:nvSpPr>
          <p:cNvPr id="200" name="Google Shape;200;p11"/>
          <p:cNvSpPr/>
          <p:nvPr/>
        </p:nvSpPr>
        <p:spPr>
          <a:xfrm>
            <a:off x="797560" y="1905000"/>
            <a:ext cx="6369685" cy="117284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Constraints in SQL are rules or conditions applied to the columns or tables to enforce data integrity and ensure that the data meets certain requirements. </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01" name="Google Shape;201;p11"/>
          <p:cNvSpPr/>
          <p:nvPr/>
        </p:nvSpPr>
        <p:spPr>
          <a:xfrm>
            <a:off x="797560" y="4312285"/>
            <a:ext cx="6369685" cy="70929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Here are the commonly used constraints in SQL:</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02" name="Google Shape;202;p11"/>
          <p:cNvSpPr/>
          <p:nvPr/>
        </p:nvSpPr>
        <p:spPr>
          <a:xfrm>
            <a:off x="797560" y="3221990"/>
            <a:ext cx="6369685" cy="94615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 Constraints help maintain the accuracy, consistency, and validity of the data stored in a database. </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0"/>
                                        </p:tgtEl>
                                        <p:attrNameLst>
                                          <p:attrName>style.visibility</p:attrName>
                                        </p:attrNameLst>
                                      </p:cBhvr>
                                      <p:to>
                                        <p:strVal val="visible"/>
                                      </p:to>
                                    </p:set>
                                    <p:animEffect transition="in" filter="fade">
                                      <p:cBhvr>
                                        <p:cTn id="12" dur="1000"/>
                                        <p:tgtEl>
                                          <p:spTgt spid="2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2"/>
                                        </p:tgtEl>
                                        <p:attrNameLst>
                                          <p:attrName>style.visibility</p:attrName>
                                        </p:attrNameLst>
                                      </p:cBhvr>
                                      <p:to>
                                        <p:strVal val="visible"/>
                                      </p:to>
                                    </p:set>
                                    <p:animEffect transition="in" filter="fade">
                                      <p:cBhvr>
                                        <p:cTn id="17" dur="1000"/>
                                        <p:tgtEl>
                                          <p:spTgt spid="2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1"/>
                                        </p:tgtEl>
                                        <p:attrNameLst>
                                          <p:attrName>style.visibility</p:attrName>
                                        </p:attrNameLst>
                                      </p:cBhvr>
                                      <p:to>
                                        <p:strVal val="visible"/>
                                      </p:to>
                                    </p:set>
                                    <p:animEffect transition="in" filter="fade">
                                      <p:cBhvr>
                                        <p:cTn id="22" dur="10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pic>
        <p:nvPicPr>
          <p:cNvPr id="207" name="Google Shape;207;p12"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08" name="Google Shape;208;p12"/>
          <p:cNvSpPr txBox="1"/>
          <p:nvPr/>
        </p:nvSpPr>
        <p:spPr>
          <a:xfrm>
            <a:off x="797560" y="429260"/>
            <a:ext cx="5140960"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ell MT" panose="02020503060305020303"/>
                <a:ea typeface="Bell MT" panose="02020503060305020303"/>
                <a:cs typeface="Bell MT" panose="02020503060305020303"/>
                <a:sym typeface="Bell MT" panose="02020503060305020303"/>
              </a:rPr>
              <a:t>1. NOT NULL Constraint:</a:t>
            </a:r>
            <a:endParaRPr sz="3200" b="1">
              <a:solidFill>
                <a:srgbClr val="002060"/>
              </a:solidFill>
              <a:latin typeface="Bell MT" panose="02020503060305020303"/>
              <a:ea typeface="Bell MT" panose="02020503060305020303"/>
              <a:cs typeface="Bell MT" panose="02020503060305020303"/>
              <a:sym typeface="Bell MT" panose="02020503060305020303"/>
            </a:endParaRPr>
          </a:p>
        </p:txBody>
      </p:sp>
      <p:pic>
        <p:nvPicPr>
          <p:cNvPr id="209" name="Google Shape;209;p12" descr="computer"/>
          <p:cNvPicPr preferRelativeResize="0"/>
          <p:nvPr>
            <p:ph type="body" idx="1"/>
          </p:nvPr>
        </p:nvPicPr>
        <p:blipFill rotWithShape="1">
          <a:blip r:embed="rId2"/>
          <a:srcRect/>
          <a:stretch>
            <a:fillRect/>
          </a:stretch>
        </p:blipFill>
        <p:spPr>
          <a:xfrm>
            <a:off x="113665" y="3499485"/>
            <a:ext cx="5824855" cy="2258060"/>
          </a:xfrm>
          <a:prstGeom prst="rect">
            <a:avLst/>
          </a:prstGeom>
          <a:noFill/>
          <a:ln>
            <a:noFill/>
          </a:ln>
        </p:spPr>
      </p:pic>
      <p:sp>
        <p:nvSpPr>
          <p:cNvPr id="210" name="Google Shape;210;p12"/>
          <p:cNvSpPr txBox="1"/>
          <p:nvPr/>
        </p:nvSpPr>
        <p:spPr>
          <a:xfrm>
            <a:off x="1389380" y="4069715"/>
            <a:ext cx="3273425"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column_name data_type NOT NULL,</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211" name="Google Shape;211;p12" descr="computer"/>
          <p:cNvPicPr preferRelativeResize="0"/>
          <p:nvPr/>
        </p:nvPicPr>
        <p:blipFill rotWithShape="1">
          <a:blip r:embed="rId2"/>
          <a:srcRect/>
          <a:stretch>
            <a:fillRect/>
          </a:stretch>
        </p:blipFill>
        <p:spPr>
          <a:xfrm>
            <a:off x="6274435" y="3499485"/>
            <a:ext cx="5824855" cy="2515870"/>
          </a:xfrm>
          <a:prstGeom prst="rect">
            <a:avLst/>
          </a:prstGeom>
          <a:noFill/>
          <a:ln>
            <a:noFill/>
          </a:ln>
        </p:spPr>
      </p:pic>
      <p:sp>
        <p:nvSpPr>
          <p:cNvPr id="212" name="Google Shape;212;p12"/>
          <p:cNvSpPr txBox="1"/>
          <p:nvPr/>
        </p:nvSpPr>
        <p:spPr>
          <a:xfrm>
            <a:off x="7550150" y="4060825"/>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 NOT NULL,</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name VARCHAR(50) NOT NULL,</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age 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13" name="Google Shape;213;p12"/>
          <p:cNvSpPr txBox="1"/>
          <p:nvPr/>
        </p:nvSpPr>
        <p:spPr>
          <a:xfrm>
            <a:off x="1143635" y="3291840"/>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4" name="Google Shape;214;p12"/>
          <p:cNvSpPr/>
          <p:nvPr/>
        </p:nvSpPr>
        <p:spPr>
          <a:xfrm>
            <a:off x="797560" y="1504315"/>
            <a:ext cx="6369685" cy="122555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NOT NULL constraint ensures that a column cannot contain NULL values, meaning it must always have a value.</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15" name="Google Shape;215;p12"/>
          <p:cNvSpPr txBox="1"/>
          <p:nvPr/>
        </p:nvSpPr>
        <p:spPr>
          <a:xfrm>
            <a:off x="7304405" y="3258820"/>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fade">
                                      <p:cBhvr>
                                        <p:cTn id="12" dur="1000"/>
                                        <p:tgtEl>
                                          <p:spTgt spid="2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3"/>
                                        </p:tgtEl>
                                        <p:attrNameLst>
                                          <p:attrName>style.visibility</p:attrName>
                                        </p:attrNameLst>
                                      </p:cBhvr>
                                      <p:to>
                                        <p:strVal val="visible"/>
                                      </p:to>
                                    </p:set>
                                    <p:animEffect transition="in" filter="fade">
                                      <p:cBhvr>
                                        <p:cTn id="17" dur="500"/>
                                        <p:tgtEl>
                                          <p:spTgt spid="213"/>
                                        </p:tgtEl>
                                      </p:cBhvr>
                                    </p:animEffect>
                                  </p:childTnLst>
                                </p:cTn>
                              </p:par>
                              <p:par>
                                <p:cTn id="18" presetID="10" presetClass="entr" presetSubtype="0" fill="hold" nodeType="withEffect">
                                  <p:stCondLst>
                                    <p:cond delay="0"/>
                                  </p:stCondLst>
                                  <p:childTnLst>
                                    <p:set>
                                      <p:cBhvr>
                                        <p:cTn id="19" dur="1" fill="hold">
                                          <p:stCondLst>
                                            <p:cond delay="0"/>
                                          </p:stCondLst>
                                        </p:cTn>
                                        <p:tgtEl>
                                          <p:spTgt spid="210"/>
                                        </p:tgtEl>
                                        <p:attrNameLst>
                                          <p:attrName>style.visibility</p:attrName>
                                        </p:attrNameLst>
                                      </p:cBhvr>
                                      <p:to>
                                        <p:strVal val="visible"/>
                                      </p:to>
                                    </p:set>
                                    <p:animEffect transition="in" filter="fade">
                                      <p:cBhvr>
                                        <p:cTn id="20" dur="500"/>
                                        <p:tgtEl>
                                          <p:spTgt spid="210"/>
                                        </p:tgtEl>
                                      </p:cBhvr>
                                    </p:animEffect>
                                  </p:childTnLst>
                                </p:cTn>
                              </p:par>
                              <p:par>
                                <p:cTn id="21" presetID="10"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animEffect transition="in" filter="fade">
                                      <p:cBhvr>
                                        <p:cTn id="23" dur="500"/>
                                        <p:tgtEl>
                                          <p:spTgt spid="20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5"/>
                                        </p:tgtEl>
                                        <p:attrNameLst>
                                          <p:attrName>style.visibility</p:attrName>
                                        </p:attrNameLst>
                                      </p:cBhvr>
                                      <p:to>
                                        <p:strVal val="visible"/>
                                      </p:to>
                                    </p:set>
                                    <p:animEffect transition="in" filter="fade">
                                      <p:cBhvr>
                                        <p:cTn id="28" dur="500"/>
                                        <p:tgtEl>
                                          <p:spTgt spid="215"/>
                                        </p:tgtEl>
                                      </p:cBhvr>
                                    </p:animEffect>
                                  </p:childTnLst>
                                </p:cTn>
                              </p:par>
                              <p:par>
                                <p:cTn id="29" presetID="10" presetClass="entr" presetSubtype="0" fill="hold" nodeType="withEffect">
                                  <p:stCondLst>
                                    <p:cond delay="0"/>
                                  </p:stCondLst>
                                  <p:childTnLst>
                                    <p:set>
                                      <p:cBhvr>
                                        <p:cTn id="30" dur="1" fill="hold">
                                          <p:stCondLst>
                                            <p:cond delay="0"/>
                                          </p:stCondLst>
                                        </p:cTn>
                                        <p:tgtEl>
                                          <p:spTgt spid="212"/>
                                        </p:tgtEl>
                                        <p:attrNameLst>
                                          <p:attrName>style.visibility</p:attrName>
                                        </p:attrNameLst>
                                      </p:cBhvr>
                                      <p:to>
                                        <p:strVal val="visible"/>
                                      </p:to>
                                    </p:set>
                                    <p:animEffect transition="in" filter="fade">
                                      <p:cBhvr>
                                        <p:cTn id="31" dur="500"/>
                                        <p:tgtEl>
                                          <p:spTgt spid="212"/>
                                        </p:tgtEl>
                                      </p:cBhvr>
                                    </p:animEffect>
                                  </p:childTnLst>
                                </p:cTn>
                              </p:par>
                              <p:par>
                                <p:cTn id="32" presetID="10" presetClass="entr" presetSubtype="0" fill="hold" nodeType="withEffect">
                                  <p:stCondLst>
                                    <p:cond delay="0"/>
                                  </p:stCondLst>
                                  <p:childTnLst>
                                    <p:set>
                                      <p:cBhvr>
                                        <p:cTn id="33" dur="1" fill="hold">
                                          <p:stCondLst>
                                            <p:cond delay="0"/>
                                          </p:stCondLst>
                                        </p:cTn>
                                        <p:tgtEl>
                                          <p:spTgt spid="211"/>
                                        </p:tgtEl>
                                        <p:attrNameLst>
                                          <p:attrName>style.visibility</p:attrName>
                                        </p:attrNameLst>
                                      </p:cBhvr>
                                      <p:to>
                                        <p:strVal val="visible"/>
                                      </p:to>
                                    </p:set>
                                    <p:animEffect transition="in" filter="fade">
                                      <p:cBhvr>
                                        <p:cTn id="34"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9" name="Shape 219"/>
        <p:cNvGrpSpPr/>
        <p:nvPr/>
      </p:nvGrpSpPr>
      <p:grpSpPr>
        <a:xfrm>
          <a:off x="0" y="0"/>
          <a:ext cx="0" cy="0"/>
          <a:chOff x="0" y="0"/>
          <a:chExt cx="0" cy="0"/>
        </a:xfrm>
      </p:grpSpPr>
      <p:pic>
        <p:nvPicPr>
          <p:cNvPr id="220" name="Google Shape;220;p13"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21" name="Google Shape;221;p13"/>
          <p:cNvSpPr txBox="1"/>
          <p:nvPr/>
        </p:nvSpPr>
        <p:spPr>
          <a:xfrm>
            <a:off x="797560" y="429260"/>
            <a:ext cx="5662930"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ell MT" panose="02020503060305020303"/>
                <a:ea typeface="Bell MT" panose="02020503060305020303"/>
                <a:cs typeface="Bell MT" panose="02020503060305020303"/>
                <a:sym typeface="Bell MT" panose="02020503060305020303"/>
              </a:rPr>
              <a:t>2. PRIMARY KEY Constraint:</a:t>
            </a:r>
            <a:endParaRPr sz="3200" b="1">
              <a:solidFill>
                <a:srgbClr val="002060"/>
              </a:solidFill>
              <a:latin typeface="Bell MT" panose="02020503060305020303"/>
              <a:ea typeface="Bell MT" panose="02020503060305020303"/>
              <a:cs typeface="Bell MT" panose="02020503060305020303"/>
              <a:sym typeface="Bell MT" panose="02020503060305020303"/>
            </a:endParaRPr>
          </a:p>
        </p:txBody>
      </p:sp>
      <p:pic>
        <p:nvPicPr>
          <p:cNvPr id="222" name="Google Shape;222;p13" descr="computer"/>
          <p:cNvPicPr preferRelativeResize="0"/>
          <p:nvPr>
            <p:ph type="body" idx="1"/>
          </p:nvPr>
        </p:nvPicPr>
        <p:blipFill rotWithShape="1">
          <a:blip r:embed="rId2"/>
          <a:srcRect/>
          <a:stretch>
            <a:fillRect/>
          </a:stretch>
        </p:blipFill>
        <p:spPr>
          <a:xfrm>
            <a:off x="0" y="3678555"/>
            <a:ext cx="5824855" cy="2258060"/>
          </a:xfrm>
          <a:prstGeom prst="rect">
            <a:avLst/>
          </a:prstGeom>
          <a:noFill/>
          <a:ln>
            <a:noFill/>
          </a:ln>
        </p:spPr>
      </p:pic>
      <p:sp>
        <p:nvSpPr>
          <p:cNvPr id="223" name="Google Shape;223;p13"/>
          <p:cNvSpPr txBox="1"/>
          <p:nvPr/>
        </p:nvSpPr>
        <p:spPr>
          <a:xfrm>
            <a:off x="1275715" y="4166235"/>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column_name data_type PRIMARY KEY,</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24" name="Google Shape;224;p13"/>
          <p:cNvSpPr txBox="1"/>
          <p:nvPr/>
        </p:nvSpPr>
        <p:spPr>
          <a:xfrm>
            <a:off x="1029970" y="3470910"/>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5" name="Google Shape;225;p13"/>
          <p:cNvSpPr/>
          <p:nvPr/>
        </p:nvSpPr>
        <p:spPr>
          <a:xfrm>
            <a:off x="797560" y="1494155"/>
            <a:ext cx="6369685" cy="1327785"/>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PRIMARY KEY constraint uniquely identifies each record in a table. It ensures that the specified column or combination of columns has unique values and cannot contain NULL</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226" name="Google Shape;226;p13" descr="computer"/>
          <p:cNvPicPr preferRelativeResize="0"/>
          <p:nvPr/>
        </p:nvPicPr>
        <p:blipFill rotWithShape="1">
          <a:blip r:embed="rId2"/>
          <a:srcRect/>
          <a:stretch>
            <a:fillRect/>
          </a:stretch>
        </p:blipFill>
        <p:spPr>
          <a:xfrm>
            <a:off x="6460490" y="3549650"/>
            <a:ext cx="5824855" cy="2515870"/>
          </a:xfrm>
          <a:prstGeom prst="rect">
            <a:avLst/>
          </a:prstGeom>
          <a:noFill/>
          <a:ln>
            <a:noFill/>
          </a:ln>
        </p:spPr>
      </p:pic>
      <p:sp>
        <p:nvSpPr>
          <p:cNvPr id="227" name="Google Shape;227;p13"/>
          <p:cNvSpPr txBox="1"/>
          <p:nvPr/>
        </p:nvSpPr>
        <p:spPr>
          <a:xfrm>
            <a:off x="7736205" y="4110990"/>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 PRIMARY KEY,</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name VARCHAR(50),</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age 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28" name="Google Shape;228;p13"/>
          <p:cNvSpPr txBox="1"/>
          <p:nvPr/>
        </p:nvSpPr>
        <p:spPr>
          <a:xfrm>
            <a:off x="7467600" y="3308985"/>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animEffect transition="in" filter="fade">
                                      <p:cBhvr>
                                        <p:cTn id="12" dur="1000"/>
                                        <p:tgtEl>
                                          <p:spTgt spid="2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fade">
                                      <p:cBhvr>
                                        <p:cTn id="17" dur="500"/>
                                        <p:tgtEl>
                                          <p:spTgt spid="224"/>
                                        </p:tgtEl>
                                      </p:cBhvr>
                                    </p:animEffect>
                                  </p:childTnLst>
                                </p:cTn>
                              </p:par>
                              <p:par>
                                <p:cTn id="18" presetID="10" presetClass="entr" presetSubtype="0" fill="hold" nodeType="withEffect">
                                  <p:stCondLst>
                                    <p:cond delay="0"/>
                                  </p:stCondLst>
                                  <p:childTnLst>
                                    <p:set>
                                      <p:cBhvr>
                                        <p:cTn id="19" dur="1" fill="hold">
                                          <p:stCondLst>
                                            <p:cond delay="0"/>
                                          </p:stCondLst>
                                        </p:cTn>
                                        <p:tgtEl>
                                          <p:spTgt spid="223"/>
                                        </p:tgtEl>
                                        <p:attrNameLst>
                                          <p:attrName>style.visibility</p:attrName>
                                        </p:attrNameLst>
                                      </p:cBhvr>
                                      <p:to>
                                        <p:strVal val="visible"/>
                                      </p:to>
                                    </p:set>
                                    <p:animEffect transition="in" filter="fade">
                                      <p:cBhvr>
                                        <p:cTn id="20" dur="500"/>
                                        <p:tgtEl>
                                          <p:spTgt spid="223"/>
                                        </p:tgtEl>
                                      </p:cBhvr>
                                    </p:animEffect>
                                  </p:childTnLst>
                                </p:cTn>
                              </p:par>
                              <p:par>
                                <p:cTn id="21" presetID="10" presetClass="entr" presetSubtype="0" fill="hold" nodeType="withEffect">
                                  <p:stCondLst>
                                    <p:cond delay="0"/>
                                  </p:stCondLst>
                                  <p:childTnLst>
                                    <p:set>
                                      <p:cBhvr>
                                        <p:cTn id="22" dur="1" fill="hold">
                                          <p:stCondLst>
                                            <p:cond delay="0"/>
                                          </p:stCondLst>
                                        </p:cTn>
                                        <p:tgtEl>
                                          <p:spTgt spid="222"/>
                                        </p:tgtEl>
                                        <p:attrNameLst>
                                          <p:attrName>style.visibility</p:attrName>
                                        </p:attrNameLst>
                                      </p:cBhvr>
                                      <p:to>
                                        <p:strVal val="visible"/>
                                      </p:to>
                                    </p:set>
                                    <p:animEffect transition="in" filter="fade">
                                      <p:cBhvr>
                                        <p:cTn id="23" dur="500"/>
                                        <p:tgtEl>
                                          <p:spTgt spid="22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8"/>
                                        </p:tgtEl>
                                        <p:attrNameLst>
                                          <p:attrName>style.visibility</p:attrName>
                                        </p:attrNameLst>
                                      </p:cBhvr>
                                      <p:to>
                                        <p:strVal val="visible"/>
                                      </p:to>
                                    </p:set>
                                    <p:animEffect transition="in" filter="fade">
                                      <p:cBhvr>
                                        <p:cTn id="28" dur="500"/>
                                        <p:tgtEl>
                                          <p:spTgt spid="228"/>
                                        </p:tgtEl>
                                      </p:cBhvr>
                                    </p:animEffect>
                                  </p:childTnLst>
                                </p:cTn>
                              </p:par>
                              <p:par>
                                <p:cTn id="29" presetID="10" presetClass="entr" presetSubtype="0" fill="hold" nodeType="withEffect">
                                  <p:stCondLst>
                                    <p:cond delay="0"/>
                                  </p:stCondLst>
                                  <p:childTnLst>
                                    <p:set>
                                      <p:cBhvr>
                                        <p:cTn id="30" dur="1" fill="hold">
                                          <p:stCondLst>
                                            <p:cond delay="0"/>
                                          </p:stCondLst>
                                        </p:cTn>
                                        <p:tgtEl>
                                          <p:spTgt spid="226"/>
                                        </p:tgtEl>
                                        <p:attrNameLst>
                                          <p:attrName>style.visibility</p:attrName>
                                        </p:attrNameLst>
                                      </p:cBhvr>
                                      <p:to>
                                        <p:strVal val="visible"/>
                                      </p:to>
                                    </p:set>
                                    <p:animEffect transition="in" filter="fade">
                                      <p:cBhvr>
                                        <p:cTn id="31" dur="500"/>
                                        <p:tgtEl>
                                          <p:spTgt spid="226"/>
                                        </p:tgtEl>
                                      </p:cBhvr>
                                    </p:animEffect>
                                  </p:childTnLst>
                                </p:cTn>
                              </p:par>
                              <p:par>
                                <p:cTn id="32" presetID="10" presetClass="entr" presetSubtype="0" fill="hold" nodeType="withEffect">
                                  <p:stCondLst>
                                    <p:cond delay="0"/>
                                  </p:stCondLst>
                                  <p:childTnLst>
                                    <p:set>
                                      <p:cBhvr>
                                        <p:cTn id="33" dur="1" fill="hold">
                                          <p:stCondLst>
                                            <p:cond delay="0"/>
                                          </p:stCondLst>
                                        </p:cTn>
                                        <p:tgtEl>
                                          <p:spTgt spid="227"/>
                                        </p:tgtEl>
                                        <p:attrNameLst>
                                          <p:attrName>style.visibility</p:attrName>
                                        </p:attrNameLst>
                                      </p:cBhvr>
                                      <p:to>
                                        <p:strVal val="visible"/>
                                      </p:to>
                                    </p:set>
                                    <p:animEffect transition="in" filter="fade">
                                      <p:cBhvr>
                                        <p:cTn id="34"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2" name="Shape 232"/>
        <p:cNvGrpSpPr/>
        <p:nvPr/>
      </p:nvGrpSpPr>
      <p:grpSpPr>
        <a:xfrm>
          <a:off x="0" y="0"/>
          <a:ext cx="0" cy="0"/>
          <a:chOff x="0" y="0"/>
          <a:chExt cx="0" cy="0"/>
        </a:xfrm>
      </p:grpSpPr>
      <p:pic>
        <p:nvPicPr>
          <p:cNvPr id="233" name="Google Shape;233;p14"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34" name="Google Shape;234;p14"/>
          <p:cNvSpPr txBox="1"/>
          <p:nvPr/>
        </p:nvSpPr>
        <p:spPr>
          <a:xfrm>
            <a:off x="797560" y="429260"/>
            <a:ext cx="5140960"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ell MT" panose="02020503060305020303"/>
                <a:ea typeface="Bell MT" panose="02020503060305020303"/>
                <a:cs typeface="Bell MT" panose="02020503060305020303"/>
                <a:sym typeface="Bell MT" panose="02020503060305020303"/>
              </a:rPr>
              <a:t>3. UNIQUE Constraint:</a:t>
            </a:r>
            <a:endParaRPr sz="3200" b="1">
              <a:solidFill>
                <a:srgbClr val="002060"/>
              </a:solidFill>
              <a:latin typeface="Bell MT" panose="02020503060305020303"/>
              <a:ea typeface="Bell MT" panose="02020503060305020303"/>
              <a:cs typeface="Bell MT" panose="02020503060305020303"/>
              <a:sym typeface="Bell MT" panose="02020503060305020303"/>
            </a:endParaRPr>
          </a:p>
        </p:txBody>
      </p:sp>
      <p:pic>
        <p:nvPicPr>
          <p:cNvPr id="235" name="Google Shape;235;p14" descr="computer"/>
          <p:cNvPicPr preferRelativeResize="0"/>
          <p:nvPr>
            <p:ph type="body" idx="1"/>
          </p:nvPr>
        </p:nvPicPr>
        <p:blipFill rotWithShape="1">
          <a:blip r:embed="rId2"/>
          <a:srcRect/>
          <a:stretch>
            <a:fillRect/>
          </a:stretch>
        </p:blipFill>
        <p:spPr>
          <a:xfrm>
            <a:off x="-72390" y="3499485"/>
            <a:ext cx="5824855" cy="2258060"/>
          </a:xfrm>
          <a:prstGeom prst="rect">
            <a:avLst/>
          </a:prstGeom>
          <a:noFill/>
          <a:ln>
            <a:noFill/>
          </a:ln>
        </p:spPr>
      </p:pic>
      <p:sp>
        <p:nvSpPr>
          <p:cNvPr id="236" name="Google Shape;236;p14"/>
          <p:cNvSpPr txBox="1"/>
          <p:nvPr/>
        </p:nvSpPr>
        <p:spPr>
          <a:xfrm>
            <a:off x="1203325" y="4069715"/>
            <a:ext cx="3273425"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column_name data_type UNIQUE,</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237" name="Google Shape;237;p14" descr="computer"/>
          <p:cNvPicPr preferRelativeResize="0"/>
          <p:nvPr/>
        </p:nvPicPr>
        <p:blipFill rotWithShape="1">
          <a:blip r:embed="rId2"/>
          <a:srcRect/>
          <a:stretch>
            <a:fillRect/>
          </a:stretch>
        </p:blipFill>
        <p:spPr>
          <a:xfrm>
            <a:off x="6149975" y="3499485"/>
            <a:ext cx="5824855" cy="2515870"/>
          </a:xfrm>
          <a:prstGeom prst="rect">
            <a:avLst/>
          </a:prstGeom>
          <a:noFill/>
          <a:ln>
            <a:noFill/>
          </a:ln>
        </p:spPr>
      </p:pic>
      <p:sp>
        <p:nvSpPr>
          <p:cNvPr id="238" name="Google Shape;238;p14"/>
          <p:cNvSpPr txBox="1"/>
          <p:nvPr/>
        </p:nvSpPr>
        <p:spPr>
          <a:xfrm>
            <a:off x="7425690" y="4060825"/>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email VARCHAR(50) UNIQUE,</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age INT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39" name="Google Shape;239;p14"/>
          <p:cNvSpPr txBox="1"/>
          <p:nvPr/>
        </p:nvSpPr>
        <p:spPr>
          <a:xfrm>
            <a:off x="957580" y="3291840"/>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0" name="Google Shape;240;p14"/>
          <p:cNvSpPr/>
          <p:nvPr/>
        </p:nvSpPr>
        <p:spPr>
          <a:xfrm>
            <a:off x="797560" y="1504315"/>
            <a:ext cx="6369685" cy="122555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UNIQUE constraint ensures that the values in a column or a combination of columns are unique, meaning no duplicate values are allowed.</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41" name="Google Shape;241;p14"/>
          <p:cNvSpPr txBox="1"/>
          <p:nvPr/>
        </p:nvSpPr>
        <p:spPr>
          <a:xfrm>
            <a:off x="7179945" y="3258820"/>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fade">
                                      <p:cBhvr>
                                        <p:cTn id="7" dur="500"/>
                                        <p:tgtEl>
                                          <p:spTgt spid="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
                                        </p:tgtEl>
                                        <p:attrNameLst>
                                          <p:attrName>style.visibility</p:attrName>
                                        </p:attrNameLst>
                                      </p:cBhvr>
                                      <p:to>
                                        <p:strVal val="visible"/>
                                      </p:to>
                                    </p:set>
                                    <p:animEffect transition="in" filter="fade">
                                      <p:cBhvr>
                                        <p:cTn id="12" dur="1000"/>
                                        <p:tgtEl>
                                          <p:spTgt spid="2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9"/>
                                        </p:tgtEl>
                                        <p:attrNameLst>
                                          <p:attrName>style.visibility</p:attrName>
                                        </p:attrNameLst>
                                      </p:cBhvr>
                                      <p:to>
                                        <p:strVal val="visible"/>
                                      </p:to>
                                    </p:set>
                                    <p:animEffect transition="in" filter="fade">
                                      <p:cBhvr>
                                        <p:cTn id="17" dur="500"/>
                                        <p:tgtEl>
                                          <p:spTgt spid="239"/>
                                        </p:tgtEl>
                                      </p:cBhvr>
                                    </p:animEffect>
                                  </p:childTnLst>
                                </p:cTn>
                              </p:par>
                              <p:par>
                                <p:cTn id="18" presetID="10" presetClass="entr" presetSubtype="0" fill="hold" nodeType="withEffect">
                                  <p:stCondLst>
                                    <p:cond delay="0"/>
                                  </p:stCondLst>
                                  <p:childTnLst>
                                    <p:set>
                                      <p:cBhvr>
                                        <p:cTn id="19" dur="1" fill="hold">
                                          <p:stCondLst>
                                            <p:cond delay="0"/>
                                          </p:stCondLst>
                                        </p:cTn>
                                        <p:tgtEl>
                                          <p:spTgt spid="235"/>
                                        </p:tgtEl>
                                        <p:attrNameLst>
                                          <p:attrName>style.visibility</p:attrName>
                                        </p:attrNameLst>
                                      </p:cBhvr>
                                      <p:to>
                                        <p:strVal val="visible"/>
                                      </p:to>
                                    </p:set>
                                    <p:animEffect transition="in" filter="fade">
                                      <p:cBhvr>
                                        <p:cTn id="20" dur="500"/>
                                        <p:tgtEl>
                                          <p:spTgt spid="235"/>
                                        </p:tgtEl>
                                      </p:cBhvr>
                                    </p:animEffect>
                                  </p:childTnLst>
                                </p:cTn>
                              </p:par>
                              <p:par>
                                <p:cTn id="21" presetID="10" presetClass="entr" presetSubtype="0" fill="hold" nodeType="withEffect">
                                  <p:stCondLst>
                                    <p:cond delay="0"/>
                                  </p:stCondLst>
                                  <p:childTnLst>
                                    <p:set>
                                      <p:cBhvr>
                                        <p:cTn id="22" dur="1" fill="hold">
                                          <p:stCondLst>
                                            <p:cond delay="0"/>
                                          </p:stCondLst>
                                        </p:cTn>
                                        <p:tgtEl>
                                          <p:spTgt spid="236"/>
                                        </p:tgtEl>
                                        <p:attrNameLst>
                                          <p:attrName>style.visibility</p:attrName>
                                        </p:attrNameLst>
                                      </p:cBhvr>
                                      <p:to>
                                        <p:strVal val="visible"/>
                                      </p:to>
                                    </p:set>
                                    <p:animEffect transition="in" filter="fade">
                                      <p:cBhvr>
                                        <p:cTn id="23" dur="500"/>
                                        <p:tgtEl>
                                          <p:spTgt spid="23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41"/>
                                        </p:tgtEl>
                                        <p:attrNameLst>
                                          <p:attrName>style.visibility</p:attrName>
                                        </p:attrNameLst>
                                      </p:cBhvr>
                                      <p:to>
                                        <p:strVal val="visible"/>
                                      </p:to>
                                    </p:set>
                                    <p:animEffect transition="in" filter="fade">
                                      <p:cBhvr>
                                        <p:cTn id="28" dur="500"/>
                                        <p:tgtEl>
                                          <p:spTgt spid="241"/>
                                        </p:tgtEl>
                                      </p:cBhvr>
                                    </p:animEffect>
                                  </p:childTnLst>
                                </p:cTn>
                              </p:par>
                              <p:par>
                                <p:cTn id="29" presetID="10" presetClass="entr" presetSubtype="0" fill="hold" nodeType="withEffect">
                                  <p:stCondLst>
                                    <p:cond delay="0"/>
                                  </p:stCondLst>
                                  <p:childTnLst>
                                    <p:set>
                                      <p:cBhvr>
                                        <p:cTn id="30" dur="1" fill="hold">
                                          <p:stCondLst>
                                            <p:cond delay="0"/>
                                          </p:stCondLst>
                                        </p:cTn>
                                        <p:tgtEl>
                                          <p:spTgt spid="238"/>
                                        </p:tgtEl>
                                        <p:attrNameLst>
                                          <p:attrName>style.visibility</p:attrName>
                                        </p:attrNameLst>
                                      </p:cBhvr>
                                      <p:to>
                                        <p:strVal val="visible"/>
                                      </p:to>
                                    </p:set>
                                    <p:animEffect transition="in" filter="fade">
                                      <p:cBhvr>
                                        <p:cTn id="31" dur="500"/>
                                        <p:tgtEl>
                                          <p:spTgt spid="238"/>
                                        </p:tgtEl>
                                      </p:cBhvr>
                                    </p:animEffect>
                                  </p:childTnLst>
                                </p:cTn>
                              </p:par>
                              <p:par>
                                <p:cTn id="32" presetID="10" presetClass="entr" presetSubtype="0" fill="hold" nodeType="withEffect">
                                  <p:stCondLst>
                                    <p:cond delay="0"/>
                                  </p:stCondLst>
                                  <p:childTnLst>
                                    <p:set>
                                      <p:cBhvr>
                                        <p:cTn id="33" dur="1" fill="hold">
                                          <p:stCondLst>
                                            <p:cond delay="0"/>
                                          </p:stCondLst>
                                        </p:cTn>
                                        <p:tgtEl>
                                          <p:spTgt spid="237"/>
                                        </p:tgtEl>
                                        <p:attrNameLst>
                                          <p:attrName>style.visibility</p:attrName>
                                        </p:attrNameLst>
                                      </p:cBhvr>
                                      <p:to>
                                        <p:strVal val="visible"/>
                                      </p:to>
                                    </p:set>
                                    <p:animEffect transition="in" filter="fade">
                                      <p:cBhvr>
                                        <p:cTn id="34" dur="5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45" name="Shape 245"/>
        <p:cNvGrpSpPr/>
        <p:nvPr/>
      </p:nvGrpSpPr>
      <p:grpSpPr>
        <a:xfrm>
          <a:off x="0" y="0"/>
          <a:ext cx="0" cy="0"/>
          <a:chOff x="0" y="0"/>
          <a:chExt cx="0" cy="0"/>
        </a:xfrm>
      </p:grpSpPr>
      <p:pic>
        <p:nvPicPr>
          <p:cNvPr id="246" name="Google Shape;246;p15"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47" name="Google Shape;247;p15"/>
          <p:cNvSpPr txBox="1"/>
          <p:nvPr/>
        </p:nvSpPr>
        <p:spPr>
          <a:xfrm>
            <a:off x="797560" y="429260"/>
            <a:ext cx="570801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ell MT" panose="02020503060305020303"/>
                <a:ea typeface="Bell MT" panose="02020503060305020303"/>
                <a:cs typeface="Bell MT" panose="02020503060305020303"/>
                <a:sym typeface="Bell MT" panose="02020503060305020303"/>
              </a:rPr>
              <a:t>4. FOREIGN KEY Constraint</a:t>
            </a:r>
            <a:endParaRPr sz="3200" b="1">
              <a:solidFill>
                <a:srgbClr val="002060"/>
              </a:solidFill>
              <a:latin typeface="Bell MT" panose="02020503060305020303"/>
              <a:ea typeface="Bell MT" panose="02020503060305020303"/>
              <a:cs typeface="Bell MT" panose="02020503060305020303"/>
              <a:sym typeface="Bell MT" panose="02020503060305020303"/>
            </a:endParaRPr>
          </a:p>
        </p:txBody>
      </p:sp>
      <p:pic>
        <p:nvPicPr>
          <p:cNvPr id="248" name="Google Shape;248;p15" descr="computer"/>
          <p:cNvPicPr preferRelativeResize="0"/>
          <p:nvPr>
            <p:ph type="body" idx="1"/>
          </p:nvPr>
        </p:nvPicPr>
        <p:blipFill rotWithShape="1">
          <a:blip r:embed="rId2"/>
          <a:srcRect/>
          <a:stretch>
            <a:fillRect/>
          </a:stretch>
        </p:blipFill>
        <p:spPr>
          <a:xfrm>
            <a:off x="172720" y="3754120"/>
            <a:ext cx="5824855" cy="2940050"/>
          </a:xfrm>
          <a:prstGeom prst="rect">
            <a:avLst/>
          </a:prstGeom>
          <a:noFill/>
          <a:ln>
            <a:noFill/>
          </a:ln>
        </p:spPr>
      </p:pic>
      <p:sp>
        <p:nvSpPr>
          <p:cNvPr id="249" name="Google Shape;249;p15"/>
          <p:cNvSpPr txBox="1"/>
          <p:nvPr/>
        </p:nvSpPr>
        <p:spPr>
          <a:xfrm>
            <a:off x="1448435" y="4241800"/>
            <a:ext cx="32733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table_name1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column_name data_type,</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 name data</a:t>
            </a:r>
            <a:r>
              <a:rPr lang="en-US" sz="1200">
                <a:solidFill>
                  <a:schemeClr val="dk1"/>
                </a:solidFill>
              </a:rPr>
              <a:t>_</a:t>
            </a:r>
            <a:r>
              <a:rPr lang="en-US" sz="1200">
                <a:solidFill>
                  <a:schemeClr val="dk1"/>
                </a:solidFill>
                <a:latin typeface="Arial" panose="020B0604020202020204"/>
                <a:ea typeface="Arial" panose="020B0604020202020204"/>
                <a:cs typeface="Arial" panose="020B0604020202020204"/>
                <a:sym typeface="Arial" panose="020B0604020202020204"/>
              </a:rPr>
              <a:t>type foreign key references </a:t>
            </a:r>
            <a:r>
              <a:rPr lang="en-US" sz="1200">
                <a:solidFill>
                  <a:schemeClr val="dk1"/>
                </a:solidFill>
              </a:rPr>
              <a:t>referenced_table</a:t>
            </a:r>
            <a:r>
              <a:rPr lang="en-US" sz="1200">
                <a:solidFill>
                  <a:schemeClr val="dk1"/>
                </a:solidFill>
                <a:latin typeface="Arial" panose="020B0604020202020204"/>
                <a:ea typeface="Arial" panose="020B0604020202020204"/>
                <a:cs typeface="Arial" panose="020B0604020202020204"/>
                <a:sym typeface="Arial" panose="020B0604020202020204"/>
              </a:rPr>
              <a:t>(</a:t>
            </a:r>
            <a:r>
              <a:rPr lang="en-US" sz="1200">
                <a:solidFill>
                  <a:schemeClr val="dk1"/>
                </a:solidFill>
              </a:rPr>
              <a:t>referenced column</a:t>
            </a:r>
            <a:r>
              <a:rPr lang="en-US" sz="1200">
                <a:solidFill>
                  <a:schemeClr val="dk1"/>
                </a:solidFill>
                <a:latin typeface="Arial" panose="020B0604020202020204"/>
                <a:ea typeface="Arial" panose="020B0604020202020204"/>
                <a:cs typeface="Arial" panose="020B0604020202020204"/>
                <a:sym typeface="Arial" panose="020B0604020202020204"/>
              </a:rPr>
              <a: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r>
              <a:rPr lang="en-US" sz="1200">
                <a:solidFill>
                  <a:schemeClr val="dk1"/>
                </a:solidFill>
              </a:rPr>
              <a:t>)</a:t>
            </a:r>
            <a:endParaRPr sz="1200">
              <a:solidFill>
                <a:schemeClr val="dk1"/>
              </a:solidFill>
              <a:latin typeface="Arial" panose="020B0604020202020204"/>
              <a:ea typeface="Arial" panose="020B0604020202020204"/>
              <a:cs typeface="Arial" panose="020B0604020202020204"/>
              <a:sym typeface="Arial" panose="020B0604020202020204"/>
            </a:endParaRPr>
          </a:p>
        </p:txBody>
      </p:sp>
      <p:pic>
        <p:nvPicPr>
          <p:cNvPr id="250" name="Google Shape;250;p15" descr="computer"/>
          <p:cNvPicPr preferRelativeResize="0"/>
          <p:nvPr/>
        </p:nvPicPr>
        <p:blipFill rotWithShape="1">
          <a:blip r:embed="rId2"/>
          <a:srcRect/>
          <a:stretch>
            <a:fillRect/>
          </a:stretch>
        </p:blipFill>
        <p:spPr>
          <a:xfrm>
            <a:off x="6367145" y="3394075"/>
            <a:ext cx="5824855" cy="3300095"/>
          </a:xfrm>
          <a:prstGeom prst="rect">
            <a:avLst/>
          </a:prstGeom>
          <a:noFill/>
          <a:ln>
            <a:noFill/>
          </a:ln>
        </p:spPr>
      </p:pic>
      <p:sp>
        <p:nvSpPr>
          <p:cNvPr id="251" name="Google Shape;251;p15"/>
          <p:cNvSpPr txBox="1"/>
          <p:nvPr/>
        </p:nvSpPr>
        <p:spPr>
          <a:xfrm>
            <a:off x="7642860" y="3954780"/>
            <a:ext cx="3531900" cy="138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 PRIMARY KEY,</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department_id INT forei</a:t>
            </a:r>
            <a:r>
              <a:rPr lang="en-US" sz="1200">
                <a:solidFill>
                  <a:schemeClr val="dk1"/>
                </a:solidFill>
              </a:rPr>
              <a:t>gn key references department(id)</a:t>
            </a:r>
            <a:r>
              <a:rPr lang="en-US" sz="1200">
                <a:solidFill>
                  <a:schemeClr val="dk1"/>
                </a:solidFill>
                <a:latin typeface="Arial" panose="020B0604020202020204"/>
                <a:ea typeface="Arial" panose="020B0604020202020204"/>
                <a:cs typeface="Arial" panose="020B0604020202020204"/>
                <a:sym typeface="Arial" panose="020B0604020202020204"/>
              </a:rPr>
              <a: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name VARCHAR(50)</a:t>
            </a:r>
            <a:r>
              <a:rPr lang="en-US" sz="1200">
                <a:solidFill>
                  <a:schemeClr val="dk1"/>
                </a:solidFill>
              </a:rPr>
              <a:t>)</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52" name="Google Shape;252;p15"/>
          <p:cNvSpPr txBox="1"/>
          <p:nvPr/>
        </p:nvSpPr>
        <p:spPr>
          <a:xfrm>
            <a:off x="1202690" y="3546475"/>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3" name="Google Shape;253;p15"/>
          <p:cNvSpPr/>
          <p:nvPr/>
        </p:nvSpPr>
        <p:spPr>
          <a:xfrm>
            <a:off x="797560" y="1504315"/>
            <a:ext cx="6369685" cy="183134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FOREIGN KEY constraint establishes a relationship between two tables by referencing the primary key of one table in another table. It ensures referential integrity, meaning the values in the foreign key column must match the values in the referenced primary key column.</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54" name="Google Shape;254;p15"/>
          <p:cNvSpPr txBox="1"/>
          <p:nvPr/>
        </p:nvSpPr>
        <p:spPr>
          <a:xfrm>
            <a:off x="7397115" y="3245485"/>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1000"/>
                                        <p:tgtEl>
                                          <p:spTgt spid="2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9"/>
                                        </p:tgtEl>
                                        <p:attrNameLst>
                                          <p:attrName>style.visibility</p:attrName>
                                        </p:attrNameLst>
                                      </p:cBhvr>
                                      <p:to>
                                        <p:strVal val="visible"/>
                                      </p:to>
                                    </p:set>
                                    <p:animEffect transition="in" filter="fade">
                                      <p:cBhvr>
                                        <p:cTn id="17" dur="500"/>
                                        <p:tgtEl>
                                          <p:spTgt spid="249"/>
                                        </p:tgtEl>
                                      </p:cBhvr>
                                    </p:animEffect>
                                  </p:childTnLst>
                                </p:cTn>
                              </p:par>
                              <p:par>
                                <p:cTn id="18" presetID="10" presetClass="entr" presetSubtype="0" fill="hold" nodeType="withEffect">
                                  <p:stCondLst>
                                    <p:cond delay="0"/>
                                  </p:stCondLst>
                                  <p:childTnLst>
                                    <p:set>
                                      <p:cBhvr>
                                        <p:cTn id="19" dur="1" fill="hold">
                                          <p:stCondLst>
                                            <p:cond delay="0"/>
                                          </p:stCondLst>
                                        </p:cTn>
                                        <p:tgtEl>
                                          <p:spTgt spid="252"/>
                                        </p:tgtEl>
                                        <p:attrNameLst>
                                          <p:attrName>style.visibility</p:attrName>
                                        </p:attrNameLst>
                                      </p:cBhvr>
                                      <p:to>
                                        <p:strVal val="visible"/>
                                      </p:to>
                                    </p:set>
                                    <p:animEffect transition="in" filter="fade">
                                      <p:cBhvr>
                                        <p:cTn id="20" dur="500"/>
                                        <p:tgtEl>
                                          <p:spTgt spid="252"/>
                                        </p:tgtEl>
                                      </p:cBhvr>
                                    </p:animEffect>
                                  </p:childTnLst>
                                </p:cTn>
                              </p:par>
                              <p:par>
                                <p:cTn id="21" presetID="10" presetClass="entr" presetSubtype="0" fill="hold" nodeType="withEffect">
                                  <p:stCondLst>
                                    <p:cond delay="0"/>
                                  </p:stCondLst>
                                  <p:childTnLst>
                                    <p:set>
                                      <p:cBhvr>
                                        <p:cTn id="22" dur="1" fill="hold">
                                          <p:stCondLst>
                                            <p:cond delay="0"/>
                                          </p:stCondLst>
                                        </p:cTn>
                                        <p:tgtEl>
                                          <p:spTgt spid="248"/>
                                        </p:tgtEl>
                                        <p:attrNameLst>
                                          <p:attrName>style.visibility</p:attrName>
                                        </p:attrNameLst>
                                      </p:cBhvr>
                                      <p:to>
                                        <p:strVal val="visible"/>
                                      </p:to>
                                    </p:set>
                                    <p:animEffect transition="in" filter="fade">
                                      <p:cBhvr>
                                        <p:cTn id="23" dur="500"/>
                                        <p:tgtEl>
                                          <p:spTgt spid="2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1"/>
                                        </p:tgtEl>
                                        <p:attrNameLst>
                                          <p:attrName>style.visibility</p:attrName>
                                        </p:attrNameLst>
                                      </p:cBhvr>
                                      <p:to>
                                        <p:strVal val="visible"/>
                                      </p:to>
                                    </p:set>
                                    <p:animEffect transition="in" filter="fade">
                                      <p:cBhvr>
                                        <p:cTn id="28" dur="500"/>
                                        <p:tgtEl>
                                          <p:spTgt spid="251"/>
                                        </p:tgtEl>
                                      </p:cBhvr>
                                    </p:animEffect>
                                  </p:childTnLst>
                                </p:cTn>
                              </p:par>
                              <p:par>
                                <p:cTn id="29" presetID="10" presetClass="entr" presetSubtype="0" fill="hold" nodeType="withEffect">
                                  <p:stCondLst>
                                    <p:cond delay="0"/>
                                  </p:stCondLst>
                                  <p:childTnLst>
                                    <p:set>
                                      <p:cBhvr>
                                        <p:cTn id="30" dur="1" fill="hold">
                                          <p:stCondLst>
                                            <p:cond delay="0"/>
                                          </p:stCondLst>
                                        </p:cTn>
                                        <p:tgtEl>
                                          <p:spTgt spid="254"/>
                                        </p:tgtEl>
                                        <p:attrNameLst>
                                          <p:attrName>style.visibility</p:attrName>
                                        </p:attrNameLst>
                                      </p:cBhvr>
                                      <p:to>
                                        <p:strVal val="visible"/>
                                      </p:to>
                                    </p:set>
                                    <p:animEffect transition="in" filter="fade">
                                      <p:cBhvr>
                                        <p:cTn id="31" dur="500"/>
                                        <p:tgtEl>
                                          <p:spTgt spid="254"/>
                                        </p:tgtEl>
                                      </p:cBhvr>
                                    </p:animEffect>
                                  </p:childTnLst>
                                </p:cTn>
                              </p:par>
                              <p:par>
                                <p:cTn id="32" presetID="10" presetClass="entr" presetSubtype="0" fill="hold" nodeType="withEffect">
                                  <p:stCondLst>
                                    <p:cond delay="0"/>
                                  </p:stCondLst>
                                  <p:childTnLst>
                                    <p:set>
                                      <p:cBhvr>
                                        <p:cTn id="33" dur="1" fill="hold">
                                          <p:stCondLst>
                                            <p:cond delay="0"/>
                                          </p:stCondLst>
                                        </p:cTn>
                                        <p:tgtEl>
                                          <p:spTgt spid="250"/>
                                        </p:tgtEl>
                                        <p:attrNameLst>
                                          <p:attrName>style.visibility</p:attrName>
                                        </p:attrNameLst>
                                      </p:cBhvr>
                                      <p:to>
                                        <p:strVal val="visible"/>
                                      </p:to>
                                    </p:set>
                                    <p:animEffect transition="in" filter="fade">
                                      <p:cBhvr>
                                        <p:cTn id="34"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pic>
        <p:nvPicPr>
          <p:cNvPr id="259" name="Google Shape;259;p16"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60" name="Google Shape;260;p16"/>
          <p:cNvSpPr txBox="1"/>
          <p:nvPr/>
        </p:nvSpPr>
        <p:spPr>
          <a:xfrm>
            <a:off x="797560" y="429260"/>
            <a:ext cx="5140960"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ell MT" panose="02020503060305020303"/>
                <a:ea typeface="Bell MT" panose="02020503060305020303"/>
                <a:cs typeface="Bell MT" panose="02020503060305020303"/>
                <a:sym typeface="Bell MT" panose="02020503060305020303"/>
              </a:rPr>
              <a:t>5. CHECK Constraint</a:t>
            </a:r>
            <a:endParaRPr sz="3200" b="1">
              <a:solidFill>
                <a:srgbClr val="002060"/>
              </a:solidFill>
              <a:latin typeface="Bell MT" panose="02020503060305020303"/>
              <a:ea typeface="Bell MT" panose="02020503060305020303"/>
              <a:cs typeface="Bell MT" panose="02020503060305020303"/>
              <a:sym typeface="Bell MT" panose="02020503060305020303"/>
            </a:endParaRPr>
          </a:p>
        </p:txBody>
      </p:sp>
      <p:pic>
        <p:nvPicPr>
          <p:cNvPr id="261" name="Google Shape;261;p16" descr="computer"/>
          <p:cNvPicPr preferRelativeResize="0"/>
          <p:nvPr>
            <p:ph type="body" idx="1"/>
          </p:nvPr>
        </p:nvPicPr>
        <p:blipFill rotWithShape="1">
          <a:blip r:embed="rId2"/>
          <a:srcRect/>
          <a:stretch>
            <a:fillRect/>
          </a:stretch>
        </p:blipFill>
        <p:spPr>
          <a:xfrm>
            <a:off x="113665" y="3498215"/>
            <a:ext cx="5824855" cy="2698750"/>
          </a:xfrm>
          <a:prstGeom prst="rect">
            <a:avLst/>
          </a:prstGeom>
          <a:noFill/>
          <a:ln>
            <a:noFill/>
          </a:ln>
        </p:spPr>
      </p:pic>
      <p:sp>
        <p:nvSpPr>
          <p:cNvPr id="262" name="Google Shape;262;p16"/>
          <p:cNvSpPr txBox="1"/>
          <p:nvPr/>
        </p:nvSpPr>
        <p:spPr>
          <a:xfrm>
            <a:off x="1389380" y="3970655"/>
            <a:ext cx="3273425" cy="1383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table_name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column_name data_type,</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CONSTRAINT check_constraint_name CHECK (condition)</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63" name="Google Shape;263;p16"/>
          <p:cNvSpPr/>
          <p:nvPr/>
        </p:nvSpPr>
        <p:spPr>
          <a:xfrm>
            <a:off x="797560" y="1504315"/>
            <a:ext cx="6369685" cy="1225550"/>
          </a:xfrm>
          <a:prstGeom prst="roundRect">
            <a:avLst>
              <a:gd name="adj" fmla="val 16667"/>
            </a:avLst>
          </a:prstGeom>
          <a:gradFill>
            <a:gsLst>
              <a:gs pos="0">
                <a:srgbClr val="012D86"/>
              </a:gs>
              <a:gs pos="100000">
                <a:srgbClr val="0E2557"/>
              </a:gs>
            </a:gsLst>
            <a:lin ang="0" scaled="0"/>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1600">
                <a:solidFill>
                  <a:schemeClr val="lt1"/>
                </a:solidFill>
                <a:latin typeface="Comic Sans MS" panose="030F0702030302020204"/>
                <a:ea typeface="Comic Sans MS" panose="030F0702030302020204"/>
                <a:cs typeface="Comic Sans MS" panose="030F0702030302020204"/>
                <a:sym typeface="Comic Sans MS" panose="030F0702030302020204"/>
              </a:rPr>
              <a:t>The CHECK constraint defines a condition that must be satisfied by the values in a column. It allows you to specify a logical expression to restrict the range of valid values.</a:t>
            </a:r>
            <a:endParaRPr sz="1600">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264" name="Google Shape;264;p16" descr="computer"/>
          <p:cNvPicPr preferRelativeResize="0"/>
          <p:nvPr/>
        </p:nvPicPr>
        <p:blipFill rotWithShape="1">
          <a:blip r:embed="rId2"/>
          <a:srcRect/>
          <a:stretch>
            <a:fillRect/>
          </a:stretch>
        </p:blipFill>
        <p:spPr>
          <a:xfrm>
            <a:off x="6294755" y="3498215"/>
            <a:ext cx="5824855" cy="2515870"/>
          </a:xfrm>
          <a:prstGeom prst="rect">
            <a:avLst/>
          </a:prstGeom>
          <a:noFill/>
          <a:ln>
            <a:noFill/>
          </a:ln>
        </p:spPr>
      </p:pic>
      <p:sp>
        <p:nvSpPr>
          <p:cNvPr id="265" name="Google Shape;265;p16"/>
          <p:cNvSpPr txBox="1"/>
          <p:nvPr/>
        </p:nvSpPr>
        <p:spPr>
          <a:xfrm>
            <a:off x="7570470" y="4059555"/>
            <a:ext cx="32734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CREATE TABLE JobSeeker(</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id INT PRIMARY KEY,</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name VARCHAR(50),</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age INT CHECK (age &gt;= 18)</a:t>
            </a:r>
            <a:endParaRPr sz="1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200">
                <a:solidFill>
                  <a:schemeClr val="dk1"/>
                </a:solidFill>
                <a:latin typeface="Arial" panose="020B0604020202020204"/>
                <a:ea typeface="Arial" panose="020B0604020202020204"/>
                <a:cs typeface="Arial" panose="020B0604020202020204"/>
                <a:sym typeface="Arial" panose="020B0604020202020204"/>
              </a:rPr>
              <a:t>    );</a:t>
            </a:r>
            <a:endParaRPr sz="1200">
              <a:solidFill>
                <a:schemeClr val="dk1"/>
              </a:solidFill>
              <a:latin typeface="Arial" panose="020B0604020202020204"/>
              <a:ea typeface="Arial" panose="020B0604020202020204"/>
              <a:cs typeface="Arial" panose="020B0604020202020204"/>
              <a:sym typeface="Arial" panose="020B0604020202020204"/>
            </a:endParaRPr>
          </a:p>
        </p:txBody>
      </p:sp>
      <p:sp>
        <p:nvSpPr>
          <p:cNvPr id="266" name="Google Shape;266;p16"/>
          <p:cNvSpPr txBox="1"/>
          <p:nvPr/>
        </p:nvSpPr>
        <p:spPr>
          <a:xfrm>
            <a:off x="7324725" y="3257550"/>
            <a:ext cx="2540000" cy="42989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lt1"/>
              </a:buClr>
              <a:buSzPts val="1800"/>
              <a:buFont typeface="Arial" panose="020B0604020202020204"/>
              <a:buNone/>
            </a:pPr>
            <a:r>
              <a:rPr lang="en-US" sz="2000" b="1">
                <a:solidFill>
                  <a:srgbClr val="002060"/>
                </a:solidFill>
                <a:latin typeface="Bell MT" panose="02020503060305020303"/>
                <a:ea typeface="Bell MT" panose="02020503060305020303"/>
                <a:cs typeface="Bell MT" panose="02020503060305020303"/>
                <a:sym typeface="Bell MT" panose="02020503060305020303"/>
              </a:rPr>
              <a:t>Example</a:t>
            </a:r>
            <a:r>
              <a:rPr lang="en-US" sz="1600">
                <a:solidFill>
                  <a:srgbClr val="002060"/>
                </a:solidFill>
                <a:latin typeface="Comic Sans MS" panose="030F0702030302020204"/>
                <a:ea typeface="Comic Sans MS" panose="030F0702030302020204"/>
                <a:cs typeface="Comic Sans MS" panose="030F0702030302020204"/>
                <a:sym typeface="Comic Sans MS" panose="030F0702030302020204"/>
              </a:rPr>
              <a:t>:</a:t>
            </a:r>
            <a:endParaRPr sz="1600" b="1">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
        <p:nvSpPr>
          <p:cNvPr id="267" name="Google Shape;267;p16"/>
          <p:cNvSpPr txBox="1"/>
          <p:nvPr/>
        </p:nvSpPr>
        <p:spPr>
          <a:xfrm>
            <a:off x="1132840" y="3288665"/>
            <a:ext cx="86614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Bell MT" panose="02020503060305020303"/>
                <a:ea typeface="Bell MT" panose="02020503060305020303"/>
                <a:cs typeface="Bell MT" panose="02020503060305020303"/>
                <a:sym typeface="Bell MT" panose="02020503060305020303"/>
              </a:rPr>
              <a:t>Syntax</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3"/>
                                        </p:tgtEl>
                                        <p:attrNameLst>
                                          <p:attrName>style.visibility</p:attrName>
                                        </p:attrNameLst>
                                      </p:cBhvr>
                                      <p:to>
                                        <p:strVal val="visible"/>
                                      </p:to>
                                    </p:set>
                                    <p:animEffect transition="in" filter="fade">
                                      <p:cBhvr>
                                        <p:cTn id="12" dur="1000"/>
                                        <p:tgtEl>
                                          <p:spTgt spid="2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2"/>
                                        </p:tgtEl>
                                        <p:attrNameLst>
                                          <p:attrName>style.visibility</p:attrName>
                                        </p:attrNameLst>
                                      </p:cBhvr>
                                      <p:to>
                                        <p:strVal val="visible"/>
                                      </p:to>
                                    </p:set>
                                    <p:animEffect transition="in" filter="fade">
                                      <p:cBhvr>
                                        <p:cTn id="17" dur="500"/>
                                        <p:tgtEl>
                                          <p:spTgt spid="262"/>
                                        </p:tgtEl>
                                      </p:cBhvr>
                                    </p:animEffect>
                                  </p:childTnLst>
                                </p:cTn>
                              </p:par>
                              <p:par>
                                <p:cTn id="18" presetID="10" presetClass="entr" presetSubtype="0" fill="hold" nodeType="withEffect">
                                  <p:stCondLst>
                                    <p:cond delay="0"/>
                                  </p:stCondLst>
                                  <p:childTnLst>
                                    <p:set>
                                      <p:cBhvr>
                                        <p:cTn id="19" dur="1" fill="hold">
                                          <p:stCondLst>
                                            <p:cond delay="0"/>
                                          </p:stCondLst>
                                        </p:cTn>
                                        <p:tgtEl>
                                          <p:spTgt spid="267"/>
                                        </p:tgtEl>
                                        <p:attrNameLst>
                                          <p:attrName>style.visibility</p:attrName>
                                        </p:attrNameLst>
                                      </p:cBhvr>
                                      <p:to>
                                        <p:strVal val="visible"/>
                                      </p:to>
                                    </p:set>
                                    <p:animEffect transition="in" filter="fade">
                                      <p:cBhvr>
                                        <p:cTn id="20" dur="500"/>
                                        <p:tgtEl>
                                          <p:spTgt spid="267"/>
                                        </p:tgtEl>
                                      </p:cBhvr>
                                    </p:animEffect>
                                  </p:childTnLst>
                                </p:cTn>
                              </p:par>
                              <p:par>
                                <p:cTn id="21" presetID="10" presetClass="entr" presetSubtype="0" fill="hold" nodeType="withEffect">
                                  <p:stCondLst>
                                    <p:cond delay="0"/>
                                  </p:stCondLst>
                                  <p:childTnLst>
                                    <p:set>
                                      <p:cBhvr>
                                        <p:cTn id="22" dur="1" fill="hold">
                                          <p:stCondLst>
                                            <p:cond delay="0"/>
                                          </p:stCondLst>
                                        </p:cTn>
                                        <p:tgtEl>
                                          <p:spTgt spid="261"/>
                                        </p:tgtEl>
                                        <p:attrNameLst>
                                          <p:attrName>style.visibility</p:attrName>
                                        </p:attrNameLst>
                                      </p:cBhvr>
                                      <p:to>
                                        <p:strVal val="visible"/>
                                      </p:to>
                                    </p:set>
                                    <p:animEffect transition="in" filter="fade">
                                      <p:cBhvr>
                                        <p:cTn id="23" dur="500"/>
                                        <p:tgtEl>
                                          <p:spTgt spid="26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4"/>
                                        </p:tgtEl>
                                        <p:attrNameLst>
                                          <p:attrName>style.visibility</p:attrName>
                                        </p:attrNameLst>
                                      </p:cBhvr>
                                      <p:to>
                                        <p:strVal val="visible"/>
                                      </p:to>
                                    </p:set>
                                    <p:animEffect transition="in" filter="fade">
                                      <p:cBhvr>
                                        <p:cTn id="28" dur="500"/>
                                        <p:tgtEl>
                                          <p:spTgt spid="264"/>
                                        </p:tgtEl>
                                      </p:cBhvr>
                                    </p:animEffect>
                                  </p:childTnLst>
                                </p:cTn>
                              </p:par>
                              <p:par>
                                <p:cTn id="29" presetID="10" presetClass="entr" presetSubtype="0" fill="hold" nodeType="withEffect">
                                  <p:stCondLst>
                                    <p:cond delay="0"/>
                                  </p:stCondLst>
                                  <p:childTnLst>
                                    <p:set>
                                      <p:cBhvr>
                                        <p:cTn id="30" dur="1" fill="hold">
                                          <p:stCondLst>
                                            <p:cond delay="0"/>
                                          </p:stCondLst>
                                        </p:cTn>
                                        <p:tgtEl>
                                          <p:spTgt spid="266"/>
                                        </p:tgtEl>
                                        <p:attrNameLst>
                                          <p:attrName>style.visibility</p:attrName>
                                        </p:attrNameLst>
                                      </p:cBhvr>
                                      <p:to>
                                        <p:strVal val="visible"/>
                                      </p:to>
                                    </p:set>
                                    <p:animEffect transition="in" filter="fade">
                                      <p:cBhvr>
                                        <p:cTn id="31" dur="500"/>
                                        <p:tgtEl>
                                          <p:spTgt spid="266"/>
                                        </p:tgtEl>
                                      </p:cBhvr>
                                    </p:animEffect>
                                  </p:childTnLst>
                                </p:cTn>
                              </p:par>
                              <p:par>
                                <p:cTn id="32" presetID="10" presetClass="entr" presetSubtype="0" fill="hold" nodeType="withEffect">
                                  <p:stCondLst>
                                    <p:cond delay="0"/>
                                  </p:stCondLst>
                                  <p:childTnLst>
                                    <p:set>
                                      <p:cBhvr>
                                        <p:cTn id="33" dur="1" fill="hold">
                                          <p:stCondLst>
                                            <p:cond delay="0"/>
                                          </p:stCondLst>
                                        </p:cTn>
                                        <p:tgtEl>
                                          <p:spTgt spid="265"/>
                                        </p:tgtEl>
                                        <p:attrNameLst>
                                          <p:attrName>style.visibility</p:attrName>
                                        </p:attrNameLst>
                                      </p:cBhvr>
                                      <p:to>
                                        <p:strVal val="visible"/>
                                      </p:to>
                                    </p:set>
                                    <p:animEffect transition="in" filter="fade">
                                      <p:cBhvr>
                                        <p:cTn id="34" dur="5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pic>
        <p:nvPicPr>
          <p:cNvPr id="272" name="Google Shape;272;p17" descr="tnq"/>
          <p:cNvPicPr preferRelativeResize="0"/>
          <p:nvPr>
            <p:ph type="body" idx="1"/>
          </p:nvPr>
        </p:nvPicPr>
        <p:blipFill rotWithShape="1">
          <a:blip r:embed="rId1"/>
          <a:srcRect/>
          <a:stretch>
            <a:fillRect/>
          </a:stretch>
        </p:blipFill>
        <p:spPr>
          <a:xfrm>
            <a:off x="2742565" y="1253490"/>
            <a:ext cx="6706235" cy="4351655"/>
          </a:xfrm>
          <a:prstGeom prst="rect">
            <a:avLst/>
          </a:prstGeom>
          <a:noFill/>
          <a:ln>
            <a:noFill/>
          </a:ln>
        </p:spPr>
      </p:pic>
      <p:pic>
        <p:nvPicPr>
          <p:cNvPr id="273" name="Google Shape;273;p17"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000">
        <p:push/>
      </p:transition>
    </mc:Choice>
    <mc:Fallback>
      <p:transition spd="slow">
        <p:push/>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4361</Words>
  <Application>WPS Presentation</Application>
  <PresentationFormat/>
  <Paragraphs>220</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Arial</vt:lpstr>
      <vt:lpstr>Calibri</vt:lpstr>
      <vt:lpstr>Bell MT</vt:lpstr>
      <vt:lpstr>Roboto</vt:lpstr>
      <vt:lpstr>Comic Sans MS</vt:lpstr>
      <vt:lpstr>Microsoft YaHei</vt:lpstr>
      <vt:lpstr>Arial Unicode MS</vt:lpstr>
      <vt:lpstr>Office Theme</vt:lpstr>
      <vt:lpstr>        DDL </vt:lpstr>
      <vt:lpstr>INTRODUCTION</vt:lpstr>
      <vt:lpstr>LIST OF DDL COMMANDS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       DDL </dc:title>
  <dc:creator/>
  <cp:lastModifiedBy>sruthi v.kumar</cp:lastModifiedBy>
  <cp:revision>1</cp:revision>
  <dcterms:created xsi:type="dcterms:W3CDTF">2025-06-02T09:32:55Z</dcterms:created>
  <dcterms:modified xsi:type="dcterms:W3CDTF">2025-06-02T09:32:56Z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18EB89C3C24F45E2A58E83028A774C93</vt:lpwstr>
  </property>
  <property fmtid="{D5CDD505-2E9C-101B-9397-08002B2CF9AE}" pid="3" name="KSOProductBuildVer">
    <vt:lpwstr>1033-12.2.0.21179</vt:lpwstr>
  </property>
</Properties>
</file>